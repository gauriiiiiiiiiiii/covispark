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4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e7f92998-4dfe-9d1a-8ce6-7973d23e5ba5}">
          <p14:sldIdLst>
            <p14:sldId id="256"/>
            <p14:sldId id="257"/>
          </p14:sldIdLst>
        </p14:section>
        <p14:section name="Architecture" id="{d6510357-8c78-5980-18dd-b86902cd0c1d}">
          <p14:sldIdLst>
            <p14:sldId id="258"/>
            <p14:sldId id="259"/>
            <p14:sldId id="260"/>
          </p14:sldIdLst>
        </p14:section>
        <p14:section name="Implementation" id="{10a88f8f-e18e-1316-7608-3a1bc8e99305}">
          <p14:sldIdLst>
            <p14:sldId id="261"/>
            <p14:sldId id="262"/>
            <p14:sldId id="263"/>
            <p14:sldId id="264"/>
            <p14:sldId id="265"/>
          </p14:sldIdLst>
        </p14:section>
        <p14:section name="Execution" id="{837e73c1-6c73-40bb-60fb-1ce793b4dbd9}">
          <p14:sldIdLst>
            <p14:sldId id="266"/>
          </p14:sldIdLst>
        </p14:section>
        <p14:section name="Results" id="{1b08690d-d867-bd0d-192e-30c5b9559390}">
          <p14:sldIdLst>
            <p14:sldId id="267"/>
            <p14:sldId id="268"/>
            <p14:sldId id="269"/>
          </p14:sldIdLst>
        </p14:section>
        <p14:section name="Wrap-up" id="{e3832fd6-79b2-282d-5a52-3296827eb3b6}">
          <p14:sldIdLst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533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533"/>
                </a:solidFill>
                <a:latin typeface="+mn-lt"/>
              </a:rPr>
              <a:t>Generated global daily cases (7-day average)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7-day average</c:v>
                </c:pt>
              </c:strCache>
            </c:strRef>
          </c:tx>
          <c:spPr>
            <a:solidFill>
              <a:srgbClr val="2F6DB5"/>
            </a:solidFill>
            <a:ln w="25400" cap="flat">
              <a:solidFill>
                <a:srgbClr val="2F6DB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F6DB5"/>
              </a:solidFill>
              <a:ln w="9525" cap="flat">
                <a:solidFill>
                  <a:srgbClr val="2F6DB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Sheet1!$A$2:$A$207</c:f>
              <c:multiLvlStrCache>
                <c:ptCount val="206"/>
                <c:lvl>
                  <c:pt idx="0">
                    <c:v>2020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>2021</c:v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/>
                  </c:pt>
                  <c:pt idx="61">
                    <c:v/>
                  </c:pt>
                  <c:pt idx="62">
                    <c:v/>
                  </c:pt>
                  <c:pt idx="63">
                    <c:v/>
                  </c:pt>
                  <c:pt idx="64">
                    <c:v/>
                  </c:pt>
                  <c:pt idx="65">
                    <c:v/>
                  </c:pt>
                  <c:pt idx="66">
                    <c:v/>
                  </c:pt>
                  <c:pt idx="67">
                    <c:v/>
                  </c:pt>
                  <c:pt idx="68">
                    <c:v/>
                  </c:pt>
                  <c:pt idx="69">
                    <c:v/>
                  </c:pt>
                  <c:pt idx="70">
                    <c:v/>
                  </c:pt>
                  <c:pt idx="71">
                    <c:v/>
                  </c:pt>
                  <c:pt idx="72">
                    <c:v/>
                  </c:pt>
                  <c:pt idx="73">
                    <c:v/>
                  </c:pt>
                  <c:pt idx="74">
                    <c:v/>
                  </c:pt>
                  <c:pt idx="75">
                    <c:v/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/>
                  </c:pt>
                  <c:pt idx="80">
                    <c:v/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/>
                  </c:pt>
                  <c:pt idx="85">
                    <c:v/>
                  </c:pt>
                  <c:pt idx="86">
                    <c:v/>
                  </c:pt>
                  <c:pt idx="87">
                    <c:v/>
                  </c:pt>
                  <c:pt idx="88">
                    <c:v/>
                  </c:pt>
                  <c:pt idx="89">
                    <c:v/>
                  </c:pt>
                  <c:pt idx="90">
                    <c:v/>
                  </c:pt>
                  <c:pt idx="91">
                    <c:v/>
                  </c:pt>
                  <c:pt idx="92">
                    <c:v/>
                  </c:pt>
                  <c:pt idx="93">
                    <c:v/>
                  </c:pt>
                  <c:pt idx="94">
                    <c:v/>
                  </c:pt>
                  <c:pt idx="95">
                    <c:v/>
                  </c:pt>
                  <c:pt idx="96">
                    <c:v/>
                  </c:pt>
                  <c:pt idx="97">
                    <c:v/>
                  </c:pt>
                  <c:pt idx="98">
                    <c:v/>
                  </c:pt>
                  <c:pt idx="99">
                    <c:v/>
                  </c:pt>
                  <c:pt idx="100">
                    <c:v/>
                  </c:pt>
                  <c:pt idx="101">
                    <c:v/>
                  </c:pt>
                  <c:pt idx="102">
                    <c:v>2022</c:v>
                  </c:pt>
                  <c:pt idx="103">
                    <c:v/>
                  </c:pt>
                  <c:pt idx="104">
                    <c:v/>
                  </c:pt>
                  <c:pt idx="105">
                    <c:v/>
                  </c:pt>
                  <c:pt idx="106">
                    <c:v/>
                  </c:pt>
                  <c:pt idx="107">
                    <c:v/>
                  </c:pt>
                  <c:pt idx="108">
                    <c:v/>
                  </c:pt>
                  <c:pt idx="109">
                    <c:v/>
                  </c:pt>
                  <c:pt idx="110">
                    <c:v/>
                  </c:pt>
                  <c:pt idx="111">
                    <c:v/>
                  </c:pt>
                  <c:pt idx="112">
                    <c:v/>
                  </c:pt>
                  <c:pt idx="113">
                    <c:v/>
                  </c:pt>
                  <c:pt idx="114">
                    <c:v/>
                  </c:pt>
                  <c:pt idx="115">
                    <c:v/>
                  </c:pt>
                  <c:pt idx="116">
                    <c:v/>
                  </c:pt>
                  <c:pt idx="117">
                    <c:v/>
                  </c:pt>
                  <c:pt idx="118">
                    <c:v/>
                  </c:pt>
                  <c:pt idx="119">
                    <c:v/>
                  </c:pt>
                  <c:pt idx="120">
                    <c:v/>
                  </c:pt>
                  <c:pt idx="121">
                    <c:v/>
                  </c:pt>
                  <c:pt idx="122">
                    <c:v/>
                  </c:pt>
                  <c:pt idx="123">
                    <c:v/>
                  </c:pt>
                  <c:pt idx="124">
                    <c:v/>
                  </c:pt>
                  <c:pt idx="125">
                    <c:v/>
                  </c:pt>
                  <c:pt idx="126">
                    <c:v/>
                  </c:pt>
                  <c:pt idx="127">
                    <c:v/>
                  </c:pt>
                  <c:pt idx="128">
                    <c:v/>
                  </c:pt>
                  <c:pt idx="129">
                    <c:v/>
                  </c:pt>
                  <c:pt idx="130">
                    <c:v/>
                  </c:pt>
                  <c:pt idx="131">
                    <c:v/>
                  </c:pt>
                  <c:pt idx="132">
                    <c:v/>
                  </c:pt>
                  <c:pt idx="133">
                    <c:v/>
                  </c:pt>
                  <c:pt idx="134">
                    <c:v/>
                  </c:pt>
                  <c:pt idx="135">
                    <c:v/>
                  </c:pt>
                  <c:pt idx="136">
                    <c:v/>
                  </c:pt>
                  <c:pt idx="137">
                    <c:v/>
                  </c:pt>
                  <c:pt idx="138">
                    <c:v/>
                  </c:pt>
                  <c:pt idx="139">
                    <c:v/>
                  </c:pt>
                  <c:pt idx="140">
                    <c:v/>
                  </c:pt>
                  <c:pt idx="141">
                    <c:v/>
                  </c:pt>
                  <c:pt idx="142">
                    <c:v/>
                  </c:pt>
                  <c:pt idx="143">
                    <c:v/>
                  </c:pt>
                  <c:pt idx="144">
                    <c:v/>
                  </c:pt>
                  <c:pt idx="145">
                    <c:v/>
                  </c:pt>
                  <c:pt idx="146">
                    <c:v/>
                  </c:pt>
                  <c:pt idx="147">
                    <c:v/>
                  </c:pt>
                  <c:pt idx="148">
                    <c:v/>
                  </c:pt>
                  <c:pt idx="149">
                    <c:v/>
                  </c:pt>
                  <c:pt idx="150">
                    <c:v/>
                  </c:pt>
                  <c:pt idx="151">
                    <c:v/>
                  </c:pt>
                  <c:pt idx="152">
                    <c:v/>
                  </c:pt>
                  <c:pt idx="153">
                    <c:v/>
                  </c:pt>
                  <c:pt idx="154">
                    <c:v>2023</c:v>
                  </c:pt>
                  <c:pt idx="155">
                    <c:v/>
                  </c:pt>
                  <c:pt idx="156">
                    <c:v/>
                  </c:pt>
                  <c:pt idx="157">
                    <c:v/>
                  </c:pt>
                  <c:pt idx="158">
                    <c:v/>
                  </c:pt>
                  <c:pt idx="159">
                    <c:v/>
                  </c:pt>
                  <c:pt idx="160">
                    <c:v/>
                  </c:pt>
                  <c:pt idx="161">
                    <c:v/>
                  </c:pt>
                  <c:pt idx="162">
                    <c:v/>
                  </c:pt>
                  <c:pt idx="163">
                    <c:v/>
                  </c:pt>
                  <c:pt idx="164">
                    <c:v/>
                  </c:pt>
                  <c:pt idx="165">
                    <c:v/>
                  </c:pt>
                  <c:pt idx="166">
                    <c:v/>
                  </c:pt>
                  <c:pt idx="167">
                    <c:v/>
                  </c:pt>
                  <c:pt idx="168">
                    <c:v/>
                  </c:pt>
                  <c:pt idx="169">
                    <c:v/>
                  </c:pt>
                  <c:pt idx="170">
                    <c:v/>
                  </c:pt>
                  <c:pt idx="171">
                    <c:v/>
                  </c:pt>
                  <c:pt idx="172">
                    <c:v/>
                  </c:pt>
                  <c:pt idx="173">
                    <c:v/>
                  </c:pt>
                  <c:pt idx="174">
                    <c:v/>
                  </c:pt>
                  <c:pt idx="175">
                    <c:v/>
                  </c:pt>
                  <c:pt idx="176">
                    <c:v/>
                  </c:pt>
                  <c:pt idx="177">
                    <c:v/>
                  </c:pt>
                  <c:pt idx="178">
                    <c:v/>
                  </c:pt>
                  <c:pt idx="179">
                    <c:v/>
                  </c:pt>
                  <c:pt idx="180">
                    <c:v/>
                  </c:pt>
                  <c:pt idx="181">
                    <c:v/>
                  </c:pt>
                  <c:pt idx="182">
                    <c:v/>
                  </c:pt>
                  <c:pt idx="183">
                    <c:v/>
                  </c:pt>
                  <c:pt idx="184">
                    <c:v/>
                  </c:pt>
                  <c:pt idx="185">
                    <c:v/>
                  </c:pt>
                  <c:pt idx="186">
                    <c:v/>
                  </c:pt>
                  <c:pt idx="187">
                    <c:v/>
                  </c:pt>
                  <c:pt idx="188">
                    <c:v/>
                  </c:pt>
                  <c:pt idx="189">
                    <c:v/>
                  </c:pt>
                  <c:pt idx="190">
                    <c:v/>
                  </c:pt>
                  <c:pt idx="191">
                    <c:v/>
                  </c:pt>
                  <c:pt idx="192">
                    <c:v/>
                  </c:pt>
                  <c:pt idx="193">
                    <c:v/>
                  </c:pt>
                  <c:pt idx="194">
                    <c:v/>
                  </c:pt>
                  <c:pt idx="195">
                    <c:v/>
                  </c:pt>
                  <c:pt idx="196">
                    <c:v/>
                  </c:pt>
                  <c:pt idx="197">
                    <c:v/>
                  </c:pt>
                  <c:pt idx="198">
                    <c:v/>
                  </c:pt>
                  <c:pt idx="199">
                    <c:v/>
                  </c:pt>
                  <c:pt idx="200">
                    <c:v/>
                  </c:pt>
                  <c:pt idx="201">
                    <c:v/>
                  </c:pt>
                  <c:pt idx="202">
                    <c:v/>
                  </c:pt>
                  <c:pt idx="203">
                    <c:v/>
                  </c:pt>
                  <c:pt idx="204">
                    <c:v/>
                  </c:pt>
                  <c:pt idx="205">
                    <c:v/>
                  </c:pt>
                </c:lvl>
              </c:multiLvlStrCache>
            </c:multiLvlStrRef>
          </c:cat>
          <c:val>
            <c:numRef>
              <c:f>Sheet1!$B$2:$B$207</c:f>
              <c:numCache>
                <c:formatCode>General</c:formatCode>
                <c:ptCount val="206"/>
                <c:pt idx="0">
                  <c:v>1266956</c:v>
                </c:pt>
                <c:pt idx="1">
                  <c:v>1265154.7</c:v>
                </c:pt>
                <c:pt idx="2">
                  <c:v>1401649.9</c:v>
                </c:pt>
                <c:pt idx="3">
                  <c:v>1492100.3</c:v>
                </c:pt>
                <c:pt idx="4">
                  <c:v>1628468.3</c:v>
                </c:pt>
                <c:pt idx="5">
                  <c:v>1779237</c:v>
                </c:pt>
                <c:pt idx="6">
                  <c:v>1816180.6</c:v>
                </c:pt>
                <c:pt idx="7">
                  <c:v>1922583.7</c:v>
                </c:pt>
                <c:pt idx="8">
                  <c:v>2035817</c:v>
                </c:pt>
                <c:pt idx="9">
                  <c:v>2192868.9</c:v>
                </c:pt>
                <c:pt idx="10">
                  <c:v>2232935.7</c:v>
                </c:pt>
                <c:pt idx="11">
                  <c:v>2246073.6</c:v>
                </c:pt>
                <c:pt idx="12">
                  <c:v>2298248</c:v>
                </c:pt>
                <c:pt idx="13">
                  <c:v>2339015.9</c:v>
                </c:pt>
                <c:pt idx="14">
                  <c:v>2338395.4</c:v>
                </c:pt>
                <c:pt idx="15">
                  <c:v>2413914</c:v>
                </c:pt>
                <c:pt idx="16">
                  <c:v>2383797.1</c:v>
                </c:pt>
                <c:pt idx="17">
                  <c:v>2345578.9</c:v>
                </c:pt>
                <c:pt idx="18">
                  <c:v>2426120.6</c:v>
                </c:pt>
                <c:pt idx="19">
                  <c:v>2352426.9</c:v>
                </c:pt>
                <c:pt idx="20">
                  <c:v>2280174.9</c:v>
                </c:pt>
                <c:pt idx="21">
                  <c:v>2366632.7</c:v>
                </c:pt>
                <c:pt idx="22">
                  <c:v>2199280.9</c:v>
                </c:pt>
                <c:pt idx="23">
                  <c:v>2198263.1</c:v>
                </c:pt>
                <c:pt idx="24">
                  <c:v>2078844.6</c:v>
                </c:pt>
                <c:pt idx="25">
                  <c:v>2014620</c:v>
                </c:pt>
                <c:pt idx="26">
                  <c:v>1897394.9</c:v>
                </c:pt>
                <c:pt idx="27">
                  <c:v>1818230</c:v>
                </c:pt>
                <c:pt idx="28">
                  <c:v>1729445.9</c:v>
                </c:pt>
                <c:pt idx="29">
                  <c:v>1561231.7</c:v>
                </c:pt>
                <c:pt idx="30">
                  <c:v>1492941.7</c:v>
                </c:pt>
                <c:pt idx="31">
                  <c:v>1372115</c:v>
                </c:pt>
                <c:pt idx="32">
                  <c:v>1266913.3</c:v>
                </c:pt>
                <c:pt idx="33">
                  <c:v>1110834.6</c:v>
                </c:pt>
                <c:pt idx="34">
                  <c:v>1055302.1</c:v>
                </c:pt>
                <c:pt idx="35">
                  <c:v>943707.7</c:v>
                </c:pt>
                <c:pt idx="36">
                  <c:v>830556.1</c:v>
                </c:pt>
                <c:pt idx="37">
                  <c:v>766048.3</c:v>
                </c:pt>
                <c:pt idx="38">
                  <c:v>708498.3</c:v>
                </c:pt>
                <c:pt idx="39">
                  <c:v>667834.9</c:v>
                </c:pt>
                <c:pt idx="40">
                  <c:v>621207</c:v>
                </c:pt>
                <c:pt idx="41">
                  <c:v>588747.4</c:v>
                </c:pt>
                <c:pt idx="42">
                  <c:v>564737.1</c:v>
                </c:pt>
                <c:pt idx="43">
                  <c:v>552208.4</c:v>
                </c:pt>
                <c:pt idx="44">
                  <c:v>542460.3</c:v>
                </c:pt>
                <c:pt idx="45">
                  <c:v>579334.3</c:v>
                </c:pt>
                <c:pt idx="46">
                  <c:v>594223.6</c:v>
                </c:pt>
                <c:pt idx="47">
                  <c:v>668621.1</c:v>
                </c:pt>
                <c:pt idx="48">
                  <c:v>689478</c:v>
                </c:pt>
                <c:pt idx="49">
                  <c:v>757219.1</c:v>
                </c:pt>
                <c:pt idx="50">
                  <c:v>826572.6</c:v>
                </c:pt>
                <c:pt idx="51">
                  <c:v>929944.7</c:v>
                </c:pt>
                <c:pt idx="52">
                  <c:v>1000641.6</c:v>
                </c:pt>
                <c:pt idx="53">
                  <c:v>1099921.3</c:v>
                </c:pt>
                <c:pt idx="54">
                  <c:v>1223043.1</c:v>
                </c:pt>
                <c:pt idx="55">
                  <c:v>1363047.9</c:v>
                </c:pt>
                <c:pt idx="56">
                  <c:v>1463906.9</c:v>
                </c:pt>
                <c:pt idx="57">
                  <c:v>1542009.4</c:v>
                </c:pt>
                <c:pt idx="58">
                  <c:v>1671440.7</c:v>
                </c:pt>
                <c:pt idx="59">
                  <c:v>1676757.3</c:v>
                </c:pt>
                <c:pt idx="60">
                  <c:v>1829110.1</c:v>
                </c:pt>
                <c:pt idx="61">
                  <c:v>1968409</c:v>
                </c:pt>
                <c:pt idx="62">
                  <c:v>2040638.7</c:v>
                </c:pt>
                <c:pt idx="63">
                  <c:v>2189055</c:v>
                </c:pt>
                <c:pt idx="64">
                  <c:v>2144189.1</c:v>
                </c:pt>
                <c:pt idx="65">
                  <c:v>2342142.9</c:v>
                </c:pt>
                <c:pt idx="66">
                  <c:v>2279885.4</c:v>
                </c:pt>
                <c:pt idx="67">
                  <c:v>2439174</c:v>
                </c:pt>
                <c:pt idx="68">
                  <c:v>2359511.7</c:v>
                </c:pt>
                <c:pt idx="69">
                  <c:v>2445524.6</c:v>
                </c:pt>
                <c:pt idx="70">
                  <c:v>2392373.1</c:v>
                </c:pt>
                <c:pt idx="71">
                  <c:v>2444874.1</c:v>
                </c:pt>
                <c:pt idx="72">
                  <c:v>2362560</c:v>
                </c:pt>
                <c:pt idx="73">
                  <c:v>2377290.1</c:v>
                </c:pt>
                <c:pt idx="74">
                  <c:v>2299905.7</c:v>
                </c:pt>
                <c:pt idx="75">
                  <c:v>2273529.1</c:v>
                </c:pt>
                <c:pt idx="76">
                  <c:v>2285482.3</c:v>
                </c:pt>
                <c:pt idx="77">
                  <c:v>2246259.3</c:v>
                </c:pt>
                <c:pt idx="78">
                  <c:v>2070971.6</c:v>
                </c:pt>
                <c:pt idx="79">
                  <c:v>1899355.1</c:v>
                </c:pt>
                <c:pt idx="80">
                  <c:v>1922554.6</c:v>
                </c:pt>
                <c:pt idx="81">
                  <c:v>1771523.3</c:v>
                </c:pt>
                <c:pt idx="82">
                  <c:v>1664940.7</c:v>
                </c:pt>
                <c:pt idx="83">
                  <c:v>1580867</c:v>
                </c:pt>
                <c:pt idx="84">
                  <c:v>1459916.4</c:v>
                </c:pt>
                <c:pt idx="85">
                  <c:v>1331173.3</c:v>
                </c:pt>
                <c:pt idx="86">
                  <c:v>1224257.7</c:v>
                </c:pt>
                <c:pt idx="87">
                  <c:v>1180585.6</c:v>
                </c:pt>
                <c:pt idx="88">
                  <c:v>1004915.4</c:v>
                </c:pt>
                <c:pt idx="89">
                  <c:v>953017.6</c:v>
                </c:pt>
                <c:pt idx="90">
                  <c:v>846540.3</c:v>
                </c:pt>
                <c:pt idx="91">
                  <c:v>771766.6</c:v>
                </c:pt>
                <c:pt idx="92">
                  <c:v>712962.4</c:v>
                </c:pt>
                <c:pt idx="93">
                  <c:v>644580.4</c:v>
                </c:pt>
                <c:pt idx="94">
                  <c:v>622661.4</c:v>
                </c:pt>
                <c:pt idx="95">
                  <c:v>571966.9</c:v>
                </c:pt>
                <c:pt idx="96">
                  <c:v>547681</c:v>
                </c:pt>
                <c:pt idx="97">
                  <c:v>553965.3</c:v>
                </c:pt>
                <c:pt idx="98">
                  <c:v>536247.1</c:v>
                </c:pt>
                <c:pt idx="99">
                  <c:v>606809.1</c:v>
                </c:pt>
                <c:pt idx="100">
                  <c:v>593418.4</c:v>
                </c:pt>
                <c:pt idx="101">
                  <c:v>686308.6</c:v>
                </c:pt>
                <c:pt idx="102">
                  <c:v>706451.4</c:v>
                </c:pt>
                <c:pt idx="103">
                  <c:v>769075.6</c:v>
                </c:pt>
                <c:pt idx="104">
                  <c:v>837447.7</c:v>
                </c:pt>
                <c:pt idx="105">
                  <c:v>938926.4</c:v>
                </c:pt>
                <c:pt idx="106">
                  <c:v>1034504.6</c:v>
                </c:pt>
                <c:pt idx="107">
                  <c:v>1121548.7</c:v>
                </c:pt>
                <c:pt idx="108">
                  <c:v>1211959</c:v>
                </c:pt>
                <c:pt idx="109">
                  <c:v>1319676.3</c:v>
                </c:pt>
                <c:pt idx="110">
                  <c:v>1484567.6</c:v>
                </c:pt>
                <c:pt idx="111">
                  <c:v>1561965</c:v>
                </c:pt>
                <c:pt idx="112">
                  <c:v>1668209.3</c:v>
                </c:pt>
                <c:pt idx="113">
                  <c:v>1725529.3</c:v>
                </c:pt>
                <c:pt idx="114">
                  <c:v>1809608</c:v>
                </c:pt>
                <c:pt idx="115">
                  <c:v>2032017.7</c:v>
                </c:pt>
                <c:pt idx="116">
                  <c:v>2091561.6</c:v>
                </c:pt>
                <c:pt idx="117">
                  <c:v>2199606.7</c:v>
                </c:pt>
                <c:pt idx="118">
                  <c:v>2213870.1</c:v>
                </c:pt>
                <c:pt idx="119">
                  <c:v>2323908.9</c:v>
                </c:pt>
                <c:pt idx="120">
                  <c:v>2307755</c:v>
                </c:pt>
                <c:pt idx="121">
                  <c:v>2404526.6</c:v>
                </c:pt>
                <c:pt idx="122">
                  <c:v>2359805.6</c:v>
                </c:pt>
                <c:pt idx="123">
                  <c:v>2393910.6</c:v>
                </c:pt>
                <c:pt idx="124">
                  <c:v>2347784.7</c:v>
                </c:pt>
                <c:pt idx="125">
                  <c:v>2466130.1</c:v>
                </c:pt>
                <c:pt idx="126">
                  <c:v>2422673</c:v>
                </c:pt>
                <c:pt idx="127">
                  <c:v>2428828.3</c:v>
                </c:pt>
                <c:pt idx="128">
                  <c:v>2351022.7</c:v>
                </c:pt>
                <c:pt idx="129">
                  <c:v>2231521.1</c:v>
                </c:pt>
                <c:pt idx="130">
                  <c:v>2208327</c:v>
                </c:pt>
                <c:pt idx="131">
                  <c:v>2186186.7</c:v>
                </c:pt>
                <c:pt idx="132">
                  <c:v>1989114.4</c:v>
                </c:pt>
                <c:pt idx="133">
                  <c:v>1909366.1</c:v>
                </c:pt>
                <c:pt idx="134">
                  <c:v>1831939.7</c:v>
                </c:pt>
                <c:pt idx="135">
                  <c:v>1771601</c:v>
                </c:pt>
                <c:pt idx="136">
                  <c:v>1673750.3</c:v>
                </c:pt>
                <c:pt idx="137">
                  <c:v>1570603.3</c:v>
                </c:pt>
                <c:pt idx="138">
                  <c:v>1490546</c:v>
                </c:pt>
                <c:pt idx="139">
                  <c:v>1332809.9</c:v>
                </c:pt>
                <c:pt idx="140">
                  <c:v>1246751.1</c:v>
                </c:pt>
                <c:pt idx="141">
                  <c:v>1122168.3</c:v>
                </c:pt>
                <c:pt idx="142">
                  <c:v>997341.4</c:v>
                </c:pt>
                <c:pt idx="143">
                  <c:v>917990.4</c:v>
                </c:pt>
                <c:pt idx="144">
                  <c:v>824229.4</c:v>
                </c:pt>
                <c:pt idx="145">
                  <c:v>775463.4</c:v>
                </c:pt>
                <c:pt idx="146">
                  <c:v>702397.6</c:v>
                </c:pt>
                <c:pt idx="147">
                  <c:v>634480</c:v>
                </c:pt>
                <c:pt idx="148">
                  <c:v>603080.4</c:v>
                </c:pt>
                <c:pt idx="149">
                  <c:v>588590.9</c:v>
                </c:pt>
                <c:pt idx="150">
                  <c:v>551402.3</c:v>
                </c:pt>
                <c:pt idx="151">
                  <c:v>560025.4</c:v>
                </c:pt>
                <c:pt idx="152">
                  <c:v>559120.7</c:v>
                </c:pt>
                <c:pt idx="153">
                  <c:v>562154.7</c:v>
                </c:pt>
                <c:pt idx="154">
                  <c:v>626742.1</c:v>
                </c:pt>
                <c:pt idx="155">
                  <c:v>656718.9</c:v>
                </c:pt>
                <c:pt idx="156">
                  <c:v>748588.6</c:v>
                </c:pt>
                <c:pt idx="157">
                  <c:v>749353.9</c:v>
                </c:pt>
                <c:pt idx="158">
                  <c:v>850508.9</c:v>
                </c:pt>
                <c:pt idx="159">
                  <c:v>975436.9</c:v>
                </c:pt>
                <c:pt idx="160">
                  <c:v>1074803.4</c:v>
                </c:pt>
                <c:pt idx="161">
                  <c:v>1105937.9</c:v>
                </c:pt>
                <c:pt idx="162">
                  <c:v>1236256</c:v>
                </c:pt>
                <c:pt idx="163">
                  <c:v>1375126.6</c:v>
                </c:pt>
                <c:pt idx="164">
                  <c:v>1431839.9</c:v>
                </c:pt>
                <c:pt idx="165">
                  <c:v>1587752.9</c:v>
                </c:pt>
                <c:pt idx="166">
                  <c:v>1749109.7</c:v>
                </c:pt>
                <c:pt idx="167">
                  <c:v>1762950.4</c:v>
                </c:pt>
                <c:pt idx="168">
                  <c:v>1819682.4</c:v>
                </c:pt>
                <c:pt idx="169">
                  <c:v>1959078.9</c:v>
                </c:pt>
                <c:pt idx="170">
                  <c:v>2081411.1</c:v>
                </c:pt>
                <c:pt idx="171">
                  <c:v>2151410</c:v>
                </c:pt>
                <c:pt idx="172">
                  <c:v>2239716.1</c:v>
                </c:pt>
                <c:pt idx="173">
                  <c:v>2323205.6</c:v>
                </c:pt>
                <c:pt idx="174">
                  <c:v>2359941.6</c:v>
                </c:pt>
                <c:pt idx="175">
                  <c:v>2265162.4</c:v>
                </c:pt>
                <c:pt idx="176">
                  <c:v>2358540.1</c:v>
                </c:pt>
                <c:pt idx="177">
                  <c:v>2451547.4</c:v>
                </c:pt>
                <c:pt idx="178">
                  <c:v>2479569</c:v>
                </c:pt>
                <c:pt idx="179">
                  <c:v>2447961.1</c:v>
                </c:pt>
                <c:pt idx="180">
                  <c:v>2450734.3</c:v>
                </c:pt>
                <c:pt idx="181">
                  <c:v>2384373.4</c:v>
                </c:pt>
                <c:pt idx="182">
                  <c:v>2374030.4</c:v>
                </c:pt>
                <c:pt idx="183">
                  <c:v>2249653.7</c:v>
                </c:pt>
                <c:pt idx="184">
                  <c:v>2250179.9</c:v>
                </c:pt>
                <c:pt idx="185">
                  <c:v>2158632</c:v>
                </c:pt>
                <c:pt idx="186">
                  <c:v>2067869</c:v>
                </c:pt>
                <c:pt idx="187">
                  <c:v>1952002.4</c:v>
                </c:pt>
                <c:pt idx="188">
                  <c:v>1872628</c:v>
                </c:pt>
                <c:pt idx="189">
                  <c:v>1768658.1</c:v>
                </c:pt>
                <c:pt idx="190">
                  <c:v>1644170.9</c:v>
                </c:pt>
                <c:pt idx="191">
                  <c:v>1547310.3</c:v>
                </c:pt>
                <c:pt idx="192">
                  <c:v>1379433.6</c:v>
                </c:pt>
                <c:pt idx="193">
                  <c:v>1316697.3</c:v>
                </c:pt>
                <c:pt idx="194">
                  <c:v>1185364</c:v>
                </c:pt>
                <c:pt idx="195">
                  <c:v>1097426.6</c:v>
                </c:pt>
                <c:pt idx="196">
                  <c:v>1043915.7</c:v>
                </c:pt>
                <c:pt idx="197">
                  <c:v>927449.3</c:v>
                </c:pt>
                <c:pt idx="198">
                  <c:v>838158.1</c:v>
                </c:pt>
                <c:pt idx="199">
                  <c:v>738511.7</c:v>
                </c:pt>
                <c:pt idx="200">
                  <c:v>697783.9</c:v>
                </c:pt>
                <c:pt idx="201">
                  <c:v>634426.1</c:v>
                </c:pt>
                <c:pt idx="202">
                  <c:v>609528.7</c:v>
                </c:pt>
                <c:pt idx="203">
                  <c:v>548204.7</c:v>
                </c:pt>
                <c:pt idx="204">
                  <c:v>555120.9</c:v>
                </c:pt>
                <c:pt idx="205">
                  <c:v>576677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68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8EE"/>
              </a:solidFill>
              <a:prstDash val="solid"/>
              <a:round/>
            </a:ln>
          </c:spPr>
        </c:majorGridlines>
        <c:numFmt formatCode="#,##0,,&quot;M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68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533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533"/>
                </a:solidFill>
                <a:latin typeface="+mn-lt"/>
              </a:rPr>
              <a:t>Top 10 countries by total cases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cases</c:v>
                </c:pt>
              </c:strCache>
            </c:strRef>
          </c:tx>
          <c:spPr>
            <a:solidFill>
              <a:srgbClr val="2F6DB5"/>
            </a:solidFill>
            <a:effectLst/>
          </c:spPr>
          <c:invertIfNegative val="0"/>
          <c:dLbls>
            <c:numFmt formatCode="#,##0.0,,&quot;M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6B7686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IND</c:v>
                  </c:pt>
                  <c:pt idx="1">
                    <c:v>BRA</c:v>
                  </c:pt>
                  <c:pt idx="2">
                    <c:v>PAK</c:v>
                  </c:pt>
                  <c:pt idx="3">
                    <c:v>NGA</c:v>
                  </c:pt>
                  <c:pt idx="4">
                    <c:v>JPN</c:v>
                  </c:pt>
                  <c:pt idx="5">
                    <c:v>IDN</c:v>
                  </c:pt>
                  <c:pt idx="6">
                    <c:v>RUS</c:v>
                  </c:pt>
                  <c:pt idx="7">
                    <c:v>IRN</c:v>
                  </c:pt>
                  <c:pt idx="8">
                    <c:v>USA</c:v>
                  </c:pt>
                  <c:pt idx="9">
                    <c:v>FRA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509003126</c:v>
                </c:pt>
                <c:pt idx="1">
                  <c:v>213586379</c:v>
                </c:pt>
                <c:pt idx="2">
                  <c:v>208262146</c:v>
                </c:pt>
                <c:pt idx="3">
                  <c:v>197088368</c:v>
                </c:pt>
                <c:pt idx="4">
                  <c:v>121863756</c:v>
                </c:pt>
                <c:pt idx="5">
                  <c:v>110853095</c:v>
                </c:pt>
                <c:pt idx="6">
                  <c:v>92542890</c:v>
                </c:pt>
                <c:pt idx="7">
                  <c:v>86638142</c:v>
                </c:pt>
                <c:pt idx="8">
                  <c:v>80725739</c:v>
                </c:pt>
                <c:pt idx="9">
                  <c:v>68366497</c:v>
                </c:pt>
              </c:numCache>
            </c:numRef>
          </c:val>
        </c:ser>
        <c:dLbls>
          <c:numFmt formatCode="#,##0.0,,&quot;M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6B7686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68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3E8EE"/>
              </a:solidFill>
              <a:prstDash val="solid"/>
              <a:round/>
            </a:ln>
          </c:spPr>
        </c:majorGridlines>
        <c:numFmt formatCode="#,##0,,&quot;M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68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533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533"/>
                </a:solidFill>
                <a:latin typeface="+mn-lt"/>
              </a:rPr>
              <a:t>Share of cases by continent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F6DB5"/>
              </a:solidFill>
              <a:effectLst/>
            </c:spPr>
          </c:dPt>
          <c:dPt>
            <c:idx val="1"/>
            <c:bubble3D val="0"/>
            <c:spPr>
              <a:solidFill>
                <a:srgbClr val="1B998B"/>
              </a:solidFill>
              <a:effectLst/>
            </c:spPr>
          </c:dPt>
          <c:dPt>
            <c:idx val="2"/>
            <c:bubble3D val="0"/>
            <c:spPr>
              <a:solidFill>
                <a:srgbClr val="E09F3E"/>
              </a:solidFill>
              <a:effectLst/>
            </c:spPr>
          </c:dPt>
          <c:dPt>
            <c:idx val="3"/>
            <c:bubble3D val="0"/>
            <c:spPr>
              <a:solidFill>
                <a:srgbClr val="D1495B"/>
              </a:solidFill>
              <a:effectLst/>
            </c:spPr>
          </c:dPt>
          <c:dPt>
            <c:idx val="4"/>
            <c:bubble3D val="0"/>
            <c:spPr>
              <a:solidFill>
                <a:srgbClr val="7A5EA8"/>
              </a:solidFill>
              <a:effectLst/>
            </c:spPr>
          </c:dPt>
          <c:dPt>
            <c:idx val="5"/>
            <c:bubble3D val="0"/>
            <c:spPr>
              <a:solidFill>
                <a:srgbClr val="5B8C3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Asia</c:v>
                </c:pt>
                <c:pt idx="1">
                  <c:v>South America</c:v>
                </c:pt>
                <c:pt idx="2">
                  <c:v>Europe</c:v>
                </c:pt>
                <c:pt idx="3">
                  <c:v>Africa</c:v>
                </c:pt>
                <c:pt idx="4">
                  <c:v>North America</c:v>
                </c:pt>
                <c:pt idx="5">
                  <c:v>Oceania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1193357764</c:v>
                </c:pt>
                <c:pt idx="1">
                  <c:v>298336427</c:v>
                </c:pt>
                <c:pt idx="2">
                  <c:v>292591666</c:v>
                </c:pt>
                <c:pt idx="3">
                  <c:v>254886060</c:v>
                </c:pt>
                <c:pt idx="4">
                  <c:v>141140880</c:v>
                </c:pt>
                <c:pt idx="5">
                  <c:v>21950886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1B25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Daily cases (weekly samples)</c:v>
                </c:pt>
              </c:strCache>
            </c:strRef>
          </c:tx>
          <c:spPr>
            <a:solidFill>
              <a:srgbClr val="B9D0EC"/>
            </a:solidFill>
            <a:ln w="25400" cap="flat">
              <a:solidFill>
                <a:srgbClr val="B9D0E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B9D0EC"/>
              </a:solidFill>
              <a:ln w="9525" cap="flat">
                <a:solidFill>
                  <a:srgbClr val="B9D0E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Sheet1!$A$2:$A$207</c:f>
              <c:multiLvlStrCache>
                <c:ptCount val="206"/>
                <c:lvl>
                  <c:pt idx="0">
                    <c:v>2020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>2021</c:v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/>
                  </c:pt>
                  <c:pt idx="61">
                    <c:v/>
                  </c:pt>
                  <c:pt idx="62">
                    <c:v/>
                  </c:pt>
                  <c:pt idx="63">
                    <c:v/>
                  </c:pt>
                  <c:pt idx="64">
                    <c:v/>
                  </c:pt>
                  <c:pt idx="65">
                    <c:v/>
                  </c:pt>
                  <c:pt idx="66">
                    <c:v/>
                  </c:pt>
                  <c:pt idx="67">
                    <c:v/>
                  </c:pt>
                  <c:pt idx="68">
                    <c:v/>
                  </c:pt>
                  <c:pt idx="69">
                    <c:v/>
                  </c:pt>
                  <c:pt idx="70">
                    <c:v/>
                  </c:pt>
                  <c:pt idx="71">
                    <c:v/>
                  </c:pt>
                  <c:pt idx="72">
                    <c:v/>
                  </c:pt>
                  <c:pt idx="73">
                    <c:v/>
                  </c:pt>
                  <c:pt idx="74">
                    <c:v/>
                  </c:pt>
                  <c:pt idx="75">
                    <c:v/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/>
                  </c:pt>
                  <c:pt idx="80">
                    <c:v/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/>
                  </c:pt>
                  <c:pt idx="85">
                    <c:v/>
                  </c:pt>
                  <c:pt idx="86">
                    <c:v/>
                  </c:pt>
                  <c:pt idx="87">
                    <c:v/>
                  </c:pt>
                  <c:pt idx="88">
                    <c:v/>
                  </c:pt>
                  <c:pt idx="89">
                    <c:v/>
                  </c:pt>
                  <c:pt idx="90">
                    <c:v/>
                  </c:pt>
                  <c:pt idx="91">
                    <c:v/>
                  </c:pt>
                  <c:pt idx="92">
                    <c:v/>
                  </c:pt>
                  <c:pt idx="93">
                    <c:v/>
                  </c:pt>
                  <c:pt idx="94">
                    <c:v/>
                  </c:pt>
                  <c:pt idx="95">
                    <c:v/>
                  </c:pt>
                  <c:pt idx="96">
                    <c:v/>
                  </c:pt>
                  <c:pt idx="97">
                    <c:v/>
                  </c:pt>
                  <c:pt idx="98">
                    <c:v/>
                  </c:pt>
                  <c:pt idx="99">
                    <c:v/>
                  </c:pt>
                  <c:pt idx="100">
                    <c:v/>
                  </c:pt>
                  <c:pt idx="101">
                    <c:v/>
                  </c:pt>
                  <c:pt idx="102">
                    <c:v>2022</c:v>
                  </c:pt>
                  <c:pt idx="103">
                    <c:v/>
                  </c:pt>
                  <c:pt idx="104">
                    <c:v/>
                  </c:pt>
                  <c:pt idx="105">
                    <c:v/>
                  </c:pt>
                  <c:pt idx="106">
                    <c:v/>
                  </c:pt>
                  <c:pt idx="107">
                    <c:v/>
                  </c:pt>
                  <c:pt idx="108">
                    <c:v/>
                  </c:pt>
                  <c:pt idx="109">
                    <c:v/>
                  </c:pt>
                  <c:pt idx="110">
                    <c:v/>
                  </c:pt>
                  <c:pt idx="111">
                    <c:v/>
                  </c:pt>
                  <c:pt idx="112">
                    <c:v/>
                  </c:pt>
                  <c:pt idx="113">
                    <c:v/>
                  </c:pt>
                  <c:pt idx="114">
                    <c:v/>
                  </c:pt>
                  <c:pt idx="115">
                    <c:v/>
                  </c:pt>
                  <c:pt idx="116">
                    <c:v/>
                  </c:pt>
                  <c:pt idx="117">
                    <c:v/>
                  </c:pt>
                  <c:pt idx="118">
                    <c:v/>
                  </c:pt>
                  <c:pt idx="119">
                    <c:v/>
                  </c:pt>
                  <c:pt idx="120">
                    <c:v/>
                  </c:pt>
                  <c:pt idx="121">
                    <c:v/>
                  </c:pt>
                  <c:pt idx="122">
                    <c:v/>
                  </c:pt>
                  <c:pt idx="123">
                    <c:v/>
                  </c:pt>
                  <c:pt idx="124">
                    <c:v/>
                  </c:pt>
                  <c:pt idx="125">
                    <c:v/>
                  </c:pt>
                  <c:pt idx="126">
                    <c:v/>
                  </c:pt>
                  <c:pt idx="127">
                    <c:v/>
                  </c:pt>
                  <c:pt idx="128">
                    <c:v/>
                  </c:pt>
                  <c:pt idx="129">
                    <c:v/>
                  </c:pt>
                  <c:pt idx="130">
                    <c:v/>
                  </c:pt>
                  <c:pt idx="131">
                    <c:v/>
                  </c:pt>
                  <c:pt idx="132">
                    <c:v/>
                  </c:pt>
                  <c:pt idx="133">
                    <c:v/>
                  </c:pt>
                  <c:pt idx="134">
                    <c:v/>
                  </c:pt>
                  <c:pt idx="135">
                    <c:v/>
                  </c:pt>
                  <c:pt idx="136">
                    <c:v/>
                  </c:pt>
                  <c:pt idx="137">
                    <c:v/>
                  </c:pt>
                  <c:pt idx="138">
                    <c:v/>
                  </c:pt>
                  <c:pt idx="139">
                    <c:v/>
                  </c:pt>
                  <c:pt idx="140">
                    <c:v/>
                  </c:pt>
                  <c:pt idx="141">
                    <c:v/>
                  </c:pt>
                  <c:pt idx="142">
                    <c:v/>
                  </c:pt>
                  <c:pt idx="143">
                    <c:v/>
                  </c:pt>
                  <c:pt idx="144">
                    <c:v/>
                  </c:pt>
                  <c:pt idx="145">
                    <c:v/>
                  </c:pt>
                  <c:pt idx="146">
                    <c:v/>
                  </c:pt>
                  <c:pt idx="147">
                    <c:v/>
                  </c:pt>
                  <c:pt idx="148">
                    <c:v/>
                  </c:pt>
                  <c:pt idx="149">
                    <c:v/>
                  </c:pt>
                  <c:pt idx="150">
                    <c:v/>
                  </c:pt>
                  <c:pt idx="151">
                    <c:v/>
                  </c:pt>
                  <c:pt idx="152">
                    <c:v/>
                  </c:pt>
                  <c:pt idx="153">
                    <c:v/>
                  </c:pt>
                  <c:pt idx="154">
                    <c:v>2023</c:v>
                  </c:pt>
                  <c:pt idx="155">
                    <c:v/>
                  </c:pt>
                  <c:pt idx="156">
                    <c:v/>
                  </c:pt>
                  <c:pt idx="157">
                    <c:v/>
                  </c:pt>
                  <c:pt idx="158">
                    <c:v/>
                  </c:pt>
                  <c:pt idx="159">
                    <c:v/>
                  </c:pt>
                  <c:pt idx="160">
                    <c:v/>
                  </c:pt>
                  <c:pt idx="161">
                    <c:v/>
                  </c:pt>
                  <c:pt idx="162">
                    <c:v/>
                  </c:pt>
                  <c:pt idx="163">
                    <c:v/>
                  </c:pt>
                  <c:pt idx="164">
                    <c:v/>
                  </c:pt>
                  <c:pt idx="165">
                    <c:v/>
                  </c:pt>
                  <c:pt idx="166">
                    <c:v/>
                  </c:pt>
                  <c:pt idx="167">
                    <c:v/>
                  </c:pt>
                  <c:pt idx="168">
                    <c:v/>
                  </c:pt>
                  <c:pt idx="169">
                    <c:v/>
                  </c:pt>
                  <c:pt idx="170">
                    <c:v/>
                  </c:pt>
                  <c:pt idx="171">
                    <c:v/>
                  </c:pt>
                  <c:pt idx="172">
                    <c:v/>
                  </c:pt>
                  <c:pt idx="173">
                    <c:v/>
                  </c:pt>
                  <c:pt idx="174">
                    <c:v/>
                  </c:pt>
                  <c:pt idx="175">
                    <c:v/>
                  </c:pt>
                  <c:pt idx="176">
                    <c:v/>
                  </c:pt>
                  <c:pt idx="177">
                    <c:v/>
                  </c:pt>
                  <c:pt idx="178">
                    <c:v/>
                  </c:pt>
                  <c:pt idx="179">
                    <c:v/>
                  </c:pt>
                  <c:pt idx="180">
                    <c:v/>
                  </c:pt>
                  <c:pt idx="181">
                    <c:v/>
                  </c:pt>
                  <c:pt idx="182">
                    <c:v/>
                  </c:pt>
                  <c:pt idx="183">
                    <c:v/>
                  </c:pt>
                  <c:pt idx="184">
                    <c:v/>
                  </c:pt>
                  <c:pt idx="185">
                    <c:v/>
                  </c:pt>
                  <c:pt idx="186">
                    <c:v/>
                  </c:pt>
                  <c:pt idx="187">
                    <c:v/>
                  </c:pt>
                  <c:pt idx="188">
                    <c:v/>
                  </c:pt>
                  <c:pt idx="189">
                    <c:v/>
                  </c:pt>
                  <c:pt idx="190">
                    <c:v/>
                  </c:pt>
                  <c:pt idx="191">
                    <c:v/>
                  </c:pt>
                  <c:pt idx="192">
                    <c:v/>
                  </c:pt>
                  <c:pt idx="193">
                    <c:v/>
                  </c:pt>
                  <c:pt idx="194">
                    <c:v/>
                  </c:pt>
                  <c:pt idx="195">
                    <c:v/>
                  </c:pt>
                  <c:pt idx="196">
                    <c:v/>
                  </c:pt>
                  <c:pt idx="197">
                    <c:v/>
                  </c:pt>
                  <c:pt idx="198">
                    <c:v/>
                  </c:pt>
                  <c:pt idx="199">
                    <c:v/>
                  </c:pt>
                  <c:pt idx="200">
                    <c:v/>
                  </c:pt>
                  <c:pt idx="201">
                    <c:v/>
                  </c:pt>
                  <c:pt idx="202">
                    <c:v/>
                  </c:pt>
                  <c:pt idx="203">
                    <c:v/>
                  </c:pt>
                  <c:pt idx="204">
                    <c:v/>
                  </c:pt>
                  <c:pt idx="205">
                    <c:v/>
                  </c:pt>
                </c:lvl>
              </c:multiLvlStrCache>
            </c:multiLvlStrRef>
          </c:cat>
          <c:val>
            <c:numRef>
              <c:f>Sheet1!$B$2:$B$207</c:f>
              <c:numCache>
                <c:formatCode>General</c:formatCode>
                <c:ptCount val="206"/>
                <c:pt idx="0">
                  <c:v>1231748</c:v>
                </c:pt>
                <c:pt idx="1">
                  <c:v>1256521</c:v>
                </c:pt>
                <c:pt idx="2">
                  <c:v>1373362</c:v>
                </c:pt>
                <c:pt idx="3">
                  <c:v>1421948</c:v>
                </c:pt>
                <c:pt idx="4">
                  <c:v>1744732</c:v>
                </c:pt>
                <c:pt idx="5">
                  <c:v>1825499</c:v>
                </c:pt>
                <c:pt idx="6">
                  <c:v>1772190</c:v>
                </c:pt>
                <c:pt idx="7">
                  <c:v>1932171</c:v>
                </c:pt>
                <c:pt idx="8">
                  <c:v>1972893</c:v>
                </c:pt>
                <c:pt idx="9">
                  <c:v>2255306</c:v>
                </c:pt>
                <c:pt idx="10">
                  <c:v>2259112</c:v>
                </c:pt>
                <c:pt idx="11">
                  <c:v>2416113</c:v>
                </c:pt>
                <c:pt idx="12">
                  <c:v>2521683</c:v>
                </c:pt>
                <c:pt idx="13">
                  <c:v>2303029</c:v>
                </c:pt>
                <c:pt idx="14">
                  <c:v>2608567</c:v>
                </c:pt>
                <c:pt idx="15">
                  <c:v>2512518</c:v>
                </c:pt>
                <c:pt idx="16">
                  <c:v>2303422</c:v>
                </c:pt>
                <c:pt idx="17">
                  <c:v>2455973</c:v>
                </c:pt>
                <c:pt idx="18">
                  <c:v>2583942</c:v>
                </c:pt>
                <c:pt idx="19">
                  <c:v>2257050</c:v>
                </c:pt>
                <c:pt idx="20">
                  <c:v>2448540</c:v>
                </c:pt>
                <c:pt idx="21">
                  <c:v>2575019</c:v>
                </c:pt>
                <c:pt idx="22">
                  <c:v>2261697</c:v>
                </c:pt>
                <c:pt idx="23">
                  <c:v>2159903</c:v>
                </c:pt>
                <c:pt idx="24">
                  <c:v>2130594</c:v>
                </c:pt>
                <c:pt idx="25">
                  <c:v>2032985</c:v>
                </c:pt>
                <c:pt idx="26">
                  <c:v>1923908</c:v>
                </c:pt>
                <c:pt idx="27">
                  <c:v>1728939</c:v>
                </c:pt>
                <c:pt idx="28">
                  <c:v>1788653</c:v>
                </c:pt>
                <c:pt idx="29">
                  <c:v>1603236</c:v>
                </c:pt>
                <c:pt idx="30">
                  <c:v>1567491</c:v>
                </c:pt>
                <c:pt idx="31">
                  <c:v>1304181</c:v>
                </c:pt>
                <c:pt idx="32">
                  <c:v>1296422</c:v>
                </c:pt>
                <c:pt idx="33">
                  <c:v>1192133</c:v>
                </c:pt>
                <c:pt idx="34">
                  <c:v>1043671</c:v>
                </c:pt>
                <c:pt idx="35">
                  <c:v>842761</c:v>
                </c:pt>
                <c:pt idx="36">
                  <c:v>813197</c:v>
                </c:pt>
                <c:pt idx="37">
                  <c:v>774778</c:v>
                </c:pt>
                <c:pt idx="38">
                  <c:v>658215</c:v>
                </c:pt>
                <c:pt idx="39">
                  <c:v>654357</c:v>
                </c:pt>
                <c:pt idx="40">
                  <c:v>560448</c:v>
                </c:pt>
                <c:pt idx="41">
                  <c:v>612921</c:v>
                </c:pt>
                <c:pt idx="42">
                  <c:v>604641</c:v>
                </c:pt>
                <c:pt idx="43">
                  <c:v>502314</c:v>
                </c:pt>
                <c:pt idx="44">
                  <c:v>534741</c:v>
                </c:pt>
                <c:pt idx="45">
                  <c:v>586195</c:v>
                </c:pt>
                <c:pt idx="46">
                  <c:v>604779</c:v>
                </c:pt>
                <c:pt idx="47">
                  <c:v>694927</c:v>
                </c:pt>
                <c:pt idx="48">
                  <c:v>746523</c:v>
                </c:pt>
                <c:pt idx="49">
                  <c:v>792377</c:v>
                </c:pt>
                <c:pt idx="50">
                  <c:v>788941</c:v>
                </c:pt>
                <c:pt idx="51">
                  <c:v>962415</c:v>
                </c:pt>
                <c:pt idx="52">
                  <c:v>970174</c:v>
                </c:pt>
                <c:pt idx="53">
                  <c:v>1137781</c:v>
                </c:pt>
                <c:pt idx="54">
                  <c:v>1149630</c:v>
                </c:pt>
                <c:pt idx="55">
                  <c:v>1308437</c:v>
                </c:pt>
                <c:pt idx="56">
                  <c:v>1587123</c:v>
                </c:pt>
                <c:pt idx="57">
                  <c:v>1602953</c:v>
                </c:pt>
                <c:pt idx="58">
                  <c:v>1701204</c:v>
                </c:pt>
                <c:pt idx="59">
                  <c:v>1703807</c:v>
                </c:pt>
                <c:pt idx="60">
                  <c:v>2002322</c:v>
                </c:pt>
                <c:pt idx="61">
                  <c:v>2089970</c:v>
                </c:pt>
                <c:pt idx="62">
                  <c:v>1970980</c:v>
                </c:pt>
                <c:pt idx="63">
                  <c:v>2110359</c:v>
                </c:pt>
                <c:pt idx="64">
                  <c:v>2078657</c:v>
                </c:pt>
                <c:pt idx="65">
                  <c:v>2234845</c:v>
                </c:pt>
                <c:pt idx="66">
                  <c:v>2503100</c:v>
                </c:pt>
                <c:pt idx="67">
                  <c:v>2365800</c:v>
                </c:pt>
                <c:pt idx="68">
                  <c:v>2140637</c:v>
                </c:pt>
                <c:pt idx="69">
                  <c:v>2590972</c:v>
                </c:pt>
                <c:pt idx="70">
                  <c:v>2406759</c:v>
                </c:pt>
                <c:pt idx="71">
                  <c:v>2545683</c:v>
                </c:pt>
                <c:pt idx="72">
                  <c:v>2444238</c:v>
                </c:pt>
                <c:pt idx="73">
                  <c:v>2289424</c:v>
                </c:pt>
                <c:pt idx="74">
                  <c:v>2130720</c:v>
                </c:pt>
                <c:pt idx="75">
                  <c:v>2426104</c:v>
                </c:pt>
                <c:pt idx="76">
                  <c:v>2150546</c:v>
                </c:pt>
                <c:pt idx="77">
                  <c:v>2158660</c:v>
                </c:pt>
                <c:pt idx="78">
                  <c:v>2113568</c:v>
                </c:pt>
                <c:pt idx="79">
                  <c:v>2012329</c:v>
                </c:pt>
                <c:pt idx="80">
                  <c:v>2118468</c:v>
                </c:pt>
                <c:pt idx="81">
                  <c:v>1880020</c:v>
                </c:pt>
                <c:pt idx="82">
                  <c:v>1768299</c:v>
                </c:pt>
                <c:pt idx="83">
                  <c:v>1657992</c:v>
                </c:pt>
                <c:pt idx="84">
                  <c:v>1466589</c:v>
                </c:pt>
                <c:pt idx="85">
                  <c:v>1384846</c:v>
                </c:pt>
                <c:pt idx="86">
                  <c:v>1199553</c:v>
                </c:pt>
                <c:pt idx="87">
                  <c:v>1212294</c:v>
                </c:pt>
                <c:pt idx="88">
                  <c:v>1030042</c:v>
                </c:pt>
                <c:pt idx="89">
                  <c:v>903699</c:v>
                </c:pt>
                <c:pt idx="90">
                  <c:v>811171</c:v>
                </c:pt>
                <c:pt idx="91">
                  <c:v>837627</c:v>
                </c:pt>
                <c:pt idx="92">
                  <c:v>700490</c:v>
                </c:pt>
                <c:pt idx="93">
                  <c:v>598628</c:v>
                </c:pt>
                <c:pt idx="94">
                  <c:v>635737</c:v>
                </c:pt>
                <c:pt idx="95">
                  <c:v>572698</c:v>
                </c:pt>
                <c:pt idx="96">
                  <c:v>539577</c:v>
                </c:pt>
                <c:pt idx="97">
                  <c:v>521695</c:v>
                </c:pt>
                <c:pt idx="98">
                  <c:v>472384</c:v>
                </c:pt>
                <c:pt idx="99">
                  <c:v>659457</c:v>
                </c:pt>
                <c:pt idx="100">
                  <c:v>505031</c:v>
                </c:pt>
                <c:pt idx="101">
                  <c:v>678356</c:v>
                </c:pt>
                <c:pt idx="102">
                  <c:v>760271</c:v>
                </c:pt>
                <c:pt idx="103">
                  <c:v>769687</c:v>
                </c:pt>
                <c:pt idx="104">
                  <c:v>939332</c:v>
                </c:pt>
                <c:pt idx="105">
                  <c:v>885131</c:v>
                </c:pt>
                <c:pt idx="106">
                  <c:v>946065</c:v>
                </c:pt>
                <c:pt idx="107">
                  <c:v>1019909</c:v>
                </c:pt>
                <c:pt idx="108">
                  <c:v>1372824</c:v>
                </c:pt>
                <c:pt idx="109">
                  <c:v>1389790</c:v>
                </c:pt>
                <c:pt idx="110">
                  <c:v>1461555</c:v>
                </c:pt>
                <c:pt idx="111">
                  <c:v>1582402</c:v>
                </c:pt>
                <c:pt idx="112">
                  <c:v>1738543</c:v>
                </c:pt>
                <c:pt idx="113">
                  <c:v>1844644</c:v>
                </c:pt>
                <c:pt idx="114">
                  <c:v>1933303</c:v>
                </c:pt>
                <c:pt idx="115">
                  <c:v>2150186</c:v>
                </c:pt>
                <c:pt idx="116">
                  <c:v>2155240</c:v>
                </c:pt>
                <c:pt idx="117">
                  <c:v>2233044</c:v>
                </c:pt>
                <c:pt idx="118">
                  <c:v>2069135</c:v>
                </c:pt>
                <c:pt idx="119">
                  <c:v>2315121</c:v>
                </c:pt>
                <c:pt idx="120">
                  <c:v>2530194</c:v>
                </c:pt>
                <c:pt idx="121">
                  <c:v>2400308</c:v>
                </c:pt>
                <c:pt idx="122">
                  <c:v>2285307</c:v>
                </c:pt>
                <c:pt idx="123">
                  <c:v>2259858</c:v>
                </c:pt>
                <c:pt idx="124">
                  <c:v>2369209</c:v>
                </c:pt>
                <c:pt idx="125">
                  <c:v>2631326</c:v>
                </c:pt>
                <c:pt idx="126">
                  <c:v>2541690</c:v>
                </c:pt>
                <c:pt idx="127">
                  <c:v>2471653</c:v>
                </c:pt>
                <c:pt idx="128">
                  <c:v>2386617</c:v>
                </c:pt>
                <c:pt idx="129">
                  <c:v>2366050</c:v>
                </c:pt>
                <c:pt idx="130">
                  <c:v>2226022</c:v>
                </c:pt>
                <c:pt idx="131">
                  <c:v>2224689</c:v>
                </c:pt>
                <c:pt idx="132">
                  <c:v>1916333</c:v>
                </c:pt>
                <c:pt idx="133">
                  <c:v>2123730</c:v>
                </c:pt>
                <c:pt idx="134">
                  <c:v>1842790</c:v>
                </c:pt>
                <c:pt idx="135">
                  <c:v>1711997</c:v>
                </c:pt>
                <c:pt idx="136">
                  <c:v>1635090</c:v>
                </c:pt>
                <c:pt idx="137">
                  <c:v>1646011</c:v>
                </c:pt>
                <c:pt idx="138">
                  <c:v>1454936</c:v>
                </c:pt>
                <c:pt idx="139">
                  <c:v>1305619</c:v>
                </c:pt>
                <c:pt idx="140">
                  <c:v>1225634</c:v>
                </c:pt>
                <c:pt idx="141">
                  <c:v>1164355</c:v>
                </c:pt>
                <c:pt idx="142">
                  <c:v>1041623</c:v>
                </c:pt>
                <c:pt idx="143">
                  <c:v>979730</c:v>
                </c:pt>
                <c:pt idx="144">
                  <c:v>728584</c:v>
                </c:pt>
                <c:pt idx="145">
                  <c:v>711636</c:v>
                </c:pt>
                <c:pt idx="146">
                  <c:v>634713</c:v>
                </c:pt>
                <c:pt idx="147">
                  <c:v>607107</c:v>
                </c:pt>
                <c:pt idx="148">
                  <c:v>584946</c:v>
                </c:pt>
                <c:pt idx="149">
                  <c:v>547163</c:v>
                </c:pt>
                <c:pt idx="150">
                  <c:v>567256</c:v>
                </c:pt>
                <c:pt idx="151">
                  <c:v>553340</c:v>
                </c:pt>
                <c:pt idx="152">
                  <c:v>558660</c:v>
                </c:pt>
                <c:pt idx="153">
                  <c:v>597452</c:v>
                </c:pt>
                <c:pt idx="154">
                  <c:v>637221</c:v>
                </c:pt>
                <c:pt idx="155">
                  <c:v>601975</c:v>
                </c:pt>
                <c:pt idx="156">
                  <c:v>760694</c:v>
                </c:pt>
                <c:pt idx="157">
                  <c:v>692800</c:v>
                </c:pt>
                <c:pt idx="158">
                  <c:v>893815</c:v>
                </c:pt>
                <c:pt idx="159">
                  <c:v>965126</c:v>
                </c:pt>
                <c:pt idx="160">
                  <c:v>1104277</c:v>
                </c:pt>
                <c:pt idx="161">
                  <c:v>1113555</c:v>
                </c:pt>
                <c:pt idx="162">
                  <c:v>1218399</c:v>
                </c:pt>
                <c:pt idx="163">
                  <c:v>1252926</c:v>
                </c:pt>
                <c:pt idx="164">
                  <c:v>1471150</c:v>
                </c:pt>
                <c:pt idx="165">
                  <c:v>1666640</c:v>
                </c:pt>
                <c:pt idx="166">
                  <c:v>1638161</c:v>
                </c:pt>
                <c:pt idx="167">
                  <c:v>1818373</c:v>
                </c:pt>
                <c:pt idx="168">
                  <c:v>1905663</c:v>
                </c:pt>
                <c:pt idx="169">
                  <c:v>1748806</c:v>
                </c:pt>
                <c:pt idx="170">
                  <c:v>2154920</c:v>
                </c:pt>
                <c:pt idx="171">
                  <c:v>2179144</c:v>
                </c:pt>
                <c:pt idx="172">
                  <c:v>2175904</c:v>
                </c:pt>
                <c:pt idx="173">
                  <c:v>2442952</c:v>
                </c:pt>
                <c:pt idx="174">
                  <c:v>2277791</c:v>
                </c:pt>
                <c:pt idx="175">
                  <c:v>2260572</c:v>
                </c:pt>
                <c:pt idx="176">
                  <c:v>2312268</c:v>
                </c:pt>
                <c:pt idx="177">
                  <c:v>2589391</c:v>
                </c:pt>
                <c:pt idx="178">
                  <c:v>2494546</c:v>
                </c:pt>
                <c:pt idx="179">
                  <c:v>2568028</c:v>
                </c:pt>
                <c:pt idx="180">
                  <c:v>2309171</c:v>
                </c:pt>
                <c:pt idx="181">
                  <c:v>2473909</c:v>
                </c:pt>
                <c:pt idx="182">
                  <c:v>2468796</c:v>
                </c:pt>
                <c:pt idx="183">
                  <c:v>2197396</c:v>
                </c:pt>
                <c:pt idx="184">
                  <c:v>2187003</c:v>
                </c:pt>
                <c:pt idx="185">
                  <c:v>2343884</c:v>
                </c:pt>
                <c:pt idx="186">
                  <c:v>1957161</c:v>
                </c:pt>
                <c:pt idx="187">
                  <c:v>1835883</c:v>
                </c:pt>
                <c:pt idx="188">
                  <c:v>1942065</c:v>
                </c:pt>
                <c:pt idx="189">
                  <c:v>1703690</c:v>
                </c:pt>
                <c:pt idx="190">
                  <c:v>1595036</c:v>
                </c:pt>
                <c:pt idx="191">
                  <c:v>1477403</c:v>
                </c:pt>
                <c:pt idx="192">
                  <c:v>1378487</c:v>
                </c:pt>
                <c:pt idx="193">
                  <c:v>1281694</c:v>
                </c:pt>
                <c:pt idx="194">
                  <c:v>1151541</c:v>
                </c:pt>
                <c:pt idx="195">
                  <c:v>1136383</c:v>
                </c:pt>
                <c:pt idx="196">
                  <c:v>1033384</c:v>
                </c:pt>
                <c:pt idx="197">
                  <c:v>929897</c:v>
                </c:pt>
                <c:pt idx="198">
                  <c:v>879716</c:v>
                </c:pt>
                <c:pt idx="199">
                  <c:v>673066</c:v>
                </c:pt>
                <c:pt idx="200">
                  <c:v>683109</c:v>
                </c:pt>
                <c:pt idx="201">
                  <c:v>611762</c:v>
                </c:pt>
                <c:pt idx="202">
                  <c:v>600141</c:v>
                </c:pt>
                <c:pt idx="203">
                  <c:v>570956</c:v>
                </c:pt>
                <c:pt idx="204">
                  <c:v>595300</c:v>
                </c:pt>
                <c:pt idx="205">
                  <c:v>602722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7-day average</c:v>
                </c:pt>
              </c:strCache>
            </c:strRef>
          </c:tx>
          <c:spPr>
            <a:solidFill>
              <a:srgbClr val="2F6DB5"/>
            </a:solidFill>
            <a:ln w="25400" cap="flat">
              <a:solidFill>
                <a:srgbClr val="2F6DB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F6DB5"/>
              </a:solidFill>
              <a:ln w="9525" cap="flat">
                <a:solidFill>
                  <a:srgbClr val="2F6DB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Sheet1!$A$2:$A$207</c:f>
              <c:multiLvlStrCache>
                <c:ptCount val="206"/>
                <c:lvl>
                  <c:pt idx="0">
                    <c:v>2020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>2021</c:v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/>
                  </c:pt>
                  <c:pt idx="61">
                    <c:v/>
                  </c:pt>
                  <c:pt idx="62">
                    <c:v/>
                  </c:pt>
                  <c:pt idx="63">
                    <c:v/>
                  </c:pt>
                  <c:pt idx="64">
                    <c:v/>
                  </c:pt>
                  <c:pt idx="65">
                    <c:v/>
                  </c:pt>
                  <c:pt idx="66">
                    <c:v/>
                  </c:pt>
                  <c:pt idx="67">
                    <c:v/>
                  </c:pt>
                  <c:pt idx="68">
                    <c:v/>
                  </c:pt>
                  <c:pt idx="69">
                    <c:v/>
                  </c:pt>
                  <c:pt idx="70">
                    <c:v/>
                  </c:pt>
                  <c:pt idx="71">
                    <c:v/>
                  </c:pt>
                  <c:pt idx="72">
                    <c:v/>
                  </c:pt>
                  <c:pt idx="73">
                    <c:v/>
                  </c:pt>
                  <c:pt idx="74">
                    <c:v/>
                  </c:pt>
                  <c:pt idx="75">
                    <c:v/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/>
                  </c:pt>
                  <c:pt idx="80">
                    <c:v/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/>
                  </c:pt>
                  <c:pt idx="85">
                    <c:v/>
                  </c:pt>
                  <c:pt idx="86">
                    <c:v/>
                  </c:pt>
                  <c:pt idx="87">
                    <c:v/>
                  </c:pt>
                  <c:pt idx="88">
                    <c:v/>
                  </c:pt>
                  <c:pt idx="89">
                    <c:v/>
                  </c:pt>
                  <c:pt idx="90">
                    <c:v/>
                  </c:pt>
                  <c:pt idx="91">
                    <c:v/>
                  </c:pt>
                  <c:pt idx="92">
                    <c:v/>
                  </c:pt>
                  <c:pt idx="93">
                    <c:v/>
                  </c:pt>
                  <c:pt idx="94">
                    <c:v/>
                  </c:pt>
                  <c:pt idx="95">
                    <c:v/>
                  </c:pt>
                  <c:pt idx="96">
                    <c:v/>
                  </c:pt>
                  <c:pt idx="97">
                    <c:v/>
                  </c:pt>
                  <c:pt idx="98">
                    <c:v/>
                  </c:pt>
                  <c:pt idx="99">
                    <c:v/>
                  </c:pt>
                  <c:pt idx="100">
                    <c:v/>
                  </c:pt>
                  <c:pt idx="101">
                    <c:v/>
                  </c:pt>
                  <c:pt idx="102">
                    <c:v>2022</c:v>
                  </c:pt>
                  <c:pt idx="103">
                    <c:v/>
                  </c:pt>
                  <c:pt idx="104">
                    <c:v/>
                  </c:pt>
                  <c:pt idx="105">
                    <c:v/>
                  </c:pt>
                  <c:pt idx="106">
                    <c:v/>
                  </c:pt>
                  <c:pt idx="107">
                    <c:v/>
                  </c:pt>
                  <c:pt idx="108">
                    <c:v/>
                  </c:pt>
                  <c:pt idx="109">
                    <c:v/>
                  </c:pt>
                  <c:pt idx="110">
                    <c:v/>
                  </c:pt>
                  <c:pt idx="111">
                    <c:v/>
                  </c:pt>
                  <c:pt idx="112">
                    <c:v/>
                  </c:pt>
                  <c:pt idx="113">
                    <c:v/>
                  </c:pt>
                  <c:pt idx="114">
                    <c:v/>
                  </c:pt>
                  <c:pt idx="115">
                    <c:v/>
                  </c:pt>
                  <c:pt idx="116">
                    <c:v/>
                  </c:pt>
                  <c:pt idx="117">
                    <c:v/>
                  </c:pt>
                  <c:pt idx="118">
                    <c:v/>
                  </c:pt>
                  <c:pt idx="119">
                    <c:v/>
                  </c:pt>
                  <c:pt idx="120">
                    <c:v/>
                  </c:pt>
                  <c:pt idx="121">
                    <c:v/>
                  </c:pt>
                  <c:pt idx="122">
                    <c:v/>
                  </c:pt>
                  <c:pt idx="123">
                    <c:v/>
                  </c:pt>
                  <c:pt idx="124">
                    <c:v/>
                  </c:pt>
                  <c:pt idx="125">
                    <c:v/>
                  </c:pt>
                  <c:pt idx="126">
                    <c:v/>
                  </c:pt>
                  <c:pt idx="127">
                    <c:v/>
                  </c:pt>
                  <c:pt idx="128">
                    <c:v/>
                  </c:pt>
                  <c:pt idx="129">
                    <c:v/>
                  </c:pt>
                  <c:pt idx="130">
                    <c:v/>
                  </c:pt>
                  <c:pt idx="131">
                    <c:v/>
                  </c:pt>
                  <c:pt idx="132">
                    <c:v/>
                  </c:pt>
                  <c:pt idx="133">
                    <c:v/>
                  </c:pt>
                  <c:pt idx="134">
                    <c:v/>
                  </c:pt>
                  <c:pt idx="135">
                    <c:v/>
                  </c:pt>
                  <c:pt idx="136">
                    <c:v/>
                  </c:pt>
                  <c:pt idx="137">
                    <c:v/>
                  </c:pt>
                  <c:pt idx="138">
                    <c:v/>
                  </c:pt>
                  <c:pt idx="139">
                    <c:v/>
                  </c:pt>
                  <c:pt idx="140">
                    <c:v/>
                  </c:pt>
                  <c:pt idx="141">
                    <c:v/>
                  </c:pt>
                  <c:pt idx="142">
                    <c:v/>
                  </c:pt>
                  <c:pt idx="143">
                    <c:v/>
                  </c:pt>
                  <c:pt idx="144">
                    <c:v/>
                  </c:pt>
                  <c:pt idx="145">
                    <c:v/>
                  </c:pt>
                  <c:pt idx="146">
                    <c:v/>
                  </c:pt>
                  <c:pt idx="147">
                    <c:v/>
                  </c:pt>
                  <c:pt idx="148">
                    <c:v/>
                  </c:pt>
                  <c:pt idx="149">
                    <c:v/>
                  </c:pt>
                  <c:pt idx="150">
                    <c:v/>
                  </c:pt>
                  <c:pt idx="151">
                    <c:v/>
                  </c:pt>
                  <c:pt idx="152">
                    <c:v/>
                  </c:pt>
                  <c:pt idx="153">
                    <c:v/>
                  </c:pt>
                  <c:pt idx="154">
                    <c:v>2023</c:v>
                  </c:pt>
                  <c:pt idx="155">
                    <c:v/>
                  </c:pt>
                  <c:pt idx="156">
                    <c:v/>
                  </c:pt>
                  <c:pt idx="157">
                    <c:v/>
                  </c:pt>
                  <c:pt idx="158">
                    <c:v/>
                  </c:pt>
                  <c:pt idx="159">
                    <c:v/>
                  </c:pt>
                  <c:pt idx="160">
                    <c:v/>
                  </c:pt>
                  <c:pt idx="161">
                    <c:v/>
                  </c:pt>
                  <c:pt idx="162">
                    <c:v/>
                  </c:pt>
                  <c:pt idx="163">
                    <c:v/>
                  </c:pt>
                  <c:pt idx="164">
                    <c:v/>
                  </c:pt>
                  <c:pt idx="165">
                    <c:v/>
                  </c:pt>
                  <c:pt idx="166">
                    <c:v/>
                  </c:pt>
                  <c:pt idx="167">
                    <c:v/>
                  </c:pt>
                  <c:pt idx="168">
                    <c:v/>
                  </c:pt>
                  <c:pt idx="169">
                    <c:v/>
                  </c:pt>
                  <c:pt idx="170">
                    <c:v/>
                  </c:pt>
                  <c:pt idx="171">
                    <c:v/>
                  </c:pt>
                  <c:pt idx="172">
                    <c:v/>
                  </c:pt>
                  <c:pt idx="173">
                    <c:v/>
                  </c:pt>
                  <c:pt idx="174">
                    <c:v/>
                  </c:pt>
                  <c:pt idx="175">
                    <c:v/>
                  </c:pt>
                  <c:pt idx="176">
                    <c:v/>
                  </c:pt>
                  <c:pt idx="177">
                    <c:v/>
                  </c:pt>
                  <c:pt idx="178">
                    <c:v/>
                  </c:pt>
                  <c:pt idx="179">
                    <c:v/>
                  </c:pt>
                  <c:pt idx="180">
                    <c:v/>
                  </c:pt>
                  <c:pt idx="181">
                    <c:v/>
                  </c:pt>
                  <c:pt idx="182">
                    <c:v/>
                  </c:pt>
                  <c:pt idx="183">
                    <c:v/>
                  </c:pt>
                  <c:pt idx="184">
                    <c:v/>
                  </c:pt>
                  <c:pt idx="185">
                    <c:v/>
                  </c:pt>
                  <c:pt idx="186">
                    <c:v/>
                  </c:pt>
                  <c:pt idx="187">
                    <c:v/>
                  </c:pt>
                  <c:pt idx="188">
                    <c:v/>
                  </c:pt>
                  <c:pt idx="189">
                    <c:v/>
                  </c:pt>
                  <c:pt idx="190">
                    <c:v/>
                  </c:pt>
                  <c:pt idx="191">
                    <c:v/>
                  </c:pt>
                  <c:pt idx="192">
                    <c:v/>
                  </c:pt>
                  <c:pt idx="193">
                    <c:v/>
                  </c:pt>
                  <c:pt idx="194">
                    <c:v/>
                  </c:pt>
                  <c:pt idx="195">
                    <c:v/>
                  </c:pt>
                  <c:pt idx="196">
                    <c:v/>
                  </c:pt>
                  <c:pt idx="197">
                    <c:v/>
                  </c:pt>
                  <c:pt idx="198">
                    <c:v/>
                  </c:pt>
                  <c:pt idx="199">
                    <c:v/>
                  </c:pt>
                  <c:pt idx="200">
                    <c:v/>
                  </c:pt>
                  <c:pt idx="201">
                    <c:v/>
                  </c:pt>
                  <c:pt idx="202">
                    <c:v/>
                  </c:pt>
                  <c:pt idx="203">
                    <c:v/>
                  </c:pt>
                  <c:pt idx="204">
                    <c:v/>
                  </c:pt>
                  <c:pt idx="205">
                    <c:v/>
                  </c:pt>
                </c:lvl>
              </c:multiLvlStrCache>
            </c:multiLvlStrRef>
          </c:cat>
          <c:val>
            <c:numRef>
              <c:f>Sheet1!$C$2:$C$207</c:f>
              <c:numCache>
                <c:formatCode>General</c:formatCode>
                <c:ptCount val="206"/>
                <c:pt idx="0">
                  <c:v>1266956</c:v>
                </c:pt>
                <c:pt idx="1">
                  <c:v>1265154.7</c:v>
                </c:pt>
                <c:pt idx="2">
                  <c:v>1401649.9</c:v>
                </c:pt>
                <c:pt idx="3">
                  <c:v>1492100.3</c:v>
                </c:pt>
                <c:pt idx="4">
                  <c:v>1628468.3</c:v>
                </c:pt>
                <c:pt idx="5">
                  <c:v>1779237</c:v>
                </c:pt>
                <c:pt idx="6">
                  <c:v>1816180.6</c:v>
                </c:pt>
                <c:pt idx="7">
                  <c:v>1922583.7</c:v>
                </c:pt>
                <c:pt idx="8">
                  <c:v>2035817</c:v>
                </c:pt>
                <c:pt idx="9">
                  <c:v>2192868.9</c:v>
                </c:pt>
                <c:pt idx="10">
                  <c:v>2232935.7</c:v>
                </c:pt>
                <c:pt idx="11">
                  <c:v>2246073.6</c:v>
                </c:pt>
                <c:pt idx="12">
                  <c:v>2298248</c:v>
                </c:pt>
                <c:pt idx="13">
                  <c:v>2339015.9</c:v>
                </c:pt>
                <c:pt idx="14">
                  <c:v>2338395.4</c:v>
                </c:pt>
                <c:pt idx="15">
                  <c:v>2413914</c:v>
                </c:pt>
                <c:pt idx="16">
                  <c:v>2383797.1</c:v>
                </c:pt>
                <c:pt idx="17">
                  <c:v>2345578.9</c:v>
                </c:pt>
                <c:pt idx="18">
                  <c:v>2426120.6</c:v>
                </c:pt>
                <c:pt idx="19">
                  <c:v>2352426.9</c:v>
                </c:pt>
                <c:pt idx="20">
                  <c:v>2280174.9</c:v>
                </c:pt>
                <c:pt idx="21">
                  <c:v>2366632.7</c:v>
                </c:pt>
                <c:pt idx="22">
                  <c:v>2199280.9</c:v>
                </c:pt>
                <c:pt idx="23">
                  <c:v>2198263.1</c:v>
                </c:pt>
                <c:pt idx="24">
                  <c:v>2078844.6</c:v>
                </c:pt>
                <c:pt idx="25">
                  <c:v>2014620</c:v>
                </c:pt>
                <c:pt idx="26">
                  <c:v>1897394.9</c:v>
                </c:pt>
                <c:pt idx="27">
                  <c:v>1818230</c:v>
                </c:pt>
                <c:pt idx="28">
                  <c:v>1729445.9</c:v>
                </c:pt>
                <c:pt idx="29">
                  <c:v>1561231.7</c:v>
                </c:pt>
                <c:pt idx="30">
                  <c:v>1492941.7</c:v>
                </c:pt>
                <c:pt idx="31">
                  <c:v>1372115</c:v>
                </c:pt>
                <c:pt idx="32">
                  <c:v>1266913.3</c:v>
                </c:pt>
                <c:pt idx="33">
                  <c:v>1110834.6</c:v>
                </c:pt>
                <c:pt idx="34">
                  <c:v>1055302.1</c:v>
                </c:pt>
                <c:pt idx="35">
                  <c:v>943707.7</c:v>
                </c:pt>
                <c:pt idx="36">
                  <c:v>830556.1</c:v>
                </c:pt>
                <c:pt idx="37">
                  <c:v>766048.3</c:v>
                </c:pt>
                <c:pt idx="38">
                  <c:v>708498.3</c:v>
                </c:pt>
                <c:pt idx="39">
                  <c:v>667834.9</c:v>
                </c:pt>
                <c:pt idx="40">
                  <c:v>621207</c:v>
                </c:pt>
                <c:pt idx="41">
                  <c:v>588747.4</c:v>
                </c:pt>
                <c:pt idx="42">
                  <c:v>564737.1</c:v>
                </c:pt>
                <c:pt idx="43">
                  <c:v>552208.4</c:v>
                </c:pt>
                <c:pt idx="44">
                  <c:v>542460.3</c:v>
                </c:pt>
                <c:pt idx="45">
                  <c:v>579334.3</c:v>
                </c:pt>
                <c:pt idx="46">
                  <c:v>594223.6</c:v>
                </c:pt>
                <c:pt idx="47">
                  <c:v>668621.1</c:v>
                </c:pt>
                <c:pt idx="48">
                  <c:v>689478</c:v>
                </c:pt>
                <c:pt idx="49">
                  <c:v>757219.1</c:v>
                </c:pt>
                <c:pt idx="50">
                  <c:v>826572.6</c:v>
                </c:pt>
                <c:pt idx="51">
                  <c:v>929944.7</c:v>
                </c:pt>
                <c:pt idx="52">
                  <c:v>1000641.6</c:v>
                </c:pt>
                <c:pt idx="53">
                  <c:v>1099921.3</c:v>
                </c:pt>
                <c:pt idx="54">
                  <c:v>1223043.1</c:v>
                </c:pt>
                <c:pt idx="55">
                  <c:v>1363047.9</c:v>
                </c:pt>
                <c:pt idx="56">
                  <c:v>1463906.9</c:v>
                </c:pt>
                <c:pt idx="57">
                  <c:v>1542009.4</c:v>
                </c:pt>
                <c:pt idx="58">
                  <c:v>1671440.7</c:v>
                </c:pt>
                <c:pt idx="59">
                  <c:v>1676757.3</c:v>
                </c:pt>
                <c:pt idx="60">
                  <c:v>1829110.1</c:v>
                </c:pt>
                <c:pt idx="61">
                  <c:v>1968409</c:v>
                </c:pt>
                <c:pt idx="62">
                  <c:v>2040638.7</c:v>
                </c:pt>
                <c:pt idx="63">
                  <c:v>2189055</c:v>
                </c:pt>
                <c:pt idx="64">
                  <c:v>2144189.1</c:v>
                </c:pt>
                <c:pt idx="65">
                  <c:v>2342142.9</c:v>
                </c:pt>
                <c:pt idx="66">
                  <c:v>2279885.4</c:v>
                </c:pt>
                <c:pt idx="67">
                  <c:v>2439174</c:v>
                </c:pt>
                <c:pt idx="68">
                  <c:v>2359511.7</c:v>
                </c:pt>
                <c:pt idx="69">
                  <c:v>2445524.6</c:v>
                </c:pt>
                <c:pt idx="70">
                  <c:v>2392373.1</c:v>
                </c:pt>
                <c:pt idx="71">
                  <c:v>2444874.1</c:v>
                </c:pt>
                <c:pt idx="72">
                  <c:v>2362560</c:v>
                </c:pt>
                <c:pt idx="73">
                  <c:v>2377290.1</c:v>
                </c:pt>
                <c:pt idx="74">
                  <c:v>2299905.7</c:v>
                </c:pt>
                <c:pt idx="75">
                  <c:v>2273529.1</c:v>
                </c:pt>
                <c:pt idx="76">
                  <c:v>2285482.3</c:v>
                </c:pt>
                <c:pt idx="77">
                  <c:v>2246259.3</c:v>
                </c:pt>
                <c:pt idx="78">
                  <c:v>2070971.6</c:v>
                </c:pt>
                <c:pt idx="79">
                  <c:v>1899355.1</c:v>
                </c:pt>
                <c:pt idx="80">
                  <c:v>1922554.6</c:v>
                </c:pt>
                <c:pt idx="81">
                  <c:v>1771523.3</c:v>
                </c:pt>
                <c:pt idx="82">
                  <c:v>1664940.7</c:v>
                </c:pt>
                <c:pt idx="83">
                  <c:v>1580867</c:v>
                </c:pt>
                <c:pt idx="84">
                  <c:v>1459916.4</c:v>
                </c:pt>
                <c:pt idx="85">
                  <c:v>1331173.3</c:v>
                </c:pt>
                <c:pt idx="86">
                  <c:v>1224257.7</c:v>
                </c:pt>
                <c:pt idx="87">
                  <c:v>1180585.6</c:v>
                </c:pt>
                <c:pt idx="88">
                  <c:v>1004915.4</c:v>
                </c:pt>
                <c:pt idx="89">
                  <c:v>953017.6</c:v>
                </c:pt>
                <c:pt idx="90">
                  <c:v>846540.3</c:v>
                </c:pt>
                <c:pt idx="91">
                  <c:v>771766.6</c:v>
                </c:pt>
                <c:pt idx="92">
                  <c:v>712962.4</c:v>
                </c:pt>
                <c:pt idx="93">
                  <c:v>644580.4</c:v>
                </c:pt>
                <c:pt idx="94">
                  <c:v>622661.4</c:v>
                </c:pt>
                <c:pt idx="95">
                  <c:v>571966.9</c:v>
                </c:pt>
                <c:pt idx="96">
                  <c:v>547681</c:v>
                </c:pt>
                <c:pt idx="97">
                  <c:v>553965.3</c:v>
                </c:pt>
                <c:pt idx="98">
                  <c:v>536247.1</c:v>
                </c:pt>
                <c:pt idx="99">
                  <c:v>606809.1</c:v>
                </c:pt>
                <c:pt idx="100">
                  <c:v>593418.4</c:v>
                </c:pt>
                <c:pt idx="101">
                  <c:v>686308.6</c:v>
                </c:pt>
                <c:pt idx="102">
                  <c:v>706451.4</c:v>
                </c:pt>
                <c:pt idx="103">
                  <c:v>769075.6</c:v>
                </c:pt>
                <c:pt idx="104">
                  <c:v>837447.7</c:v>
                </c:pt>
                <c:pt idx="105">
                  <c:v>938926.4</c:v>
                </c:pt>
                <c:pt idx="106">
                  <c:v>1034504.6</c:v>
                </c:pt>
                <c:pt idx="107">
                  <c:v>1121548.7</c:v>
                </c:pt>
                <c:pt idx="108">
                  <c:v>1211959</c:v>
                </c:pt>
                <c:pt idx="109">
                  <c:v>1319676.3</c:v>
                </c:pt>
                <c:pt idx="110">
                  <c:v>1484567.6</c:v>
                </c:pt>
                <c:pt idx="111">
                  <c:v>1561965</c:v>
                </c:pt>
                <c:pt idx="112">
                  <c:v>1668209.3</c:v>
                </c:pt>
                <c:pt idx="113">
                  <c:v>1725529.3</c:v>
                </c:pt>
                <c:pt idx="114">
                  <c:v>1809608</c:v>
                </c:pt>
                <c:pt idx="115">
                  <c:v>2032017.7</c:v>
                </c:pt>
                <c:pt idx="116">
                  <c:v>2091561.6</c:v>
                </c:pt>
                <c:pt idx="117">
                  <c:v>2199606.7</c:v>
                </c:pt>
                <c:pt idx="118">
                  <c:v>2213870.1</c:v>
                </c:pt>
                <c:pt idx="119">
                  <c:v>2323908.9</c:v>
                </c:pt>
                <c:pt idx="120">
                  <c:v>2307755</c:v>
                </c:pt>
                <c:pt idx="121">
                  <c:v>2404526.6</c:v>
                </c:pt>
                <c:pt idx="122">
                  <c:v>2359805.6</c:v>
                </c:pt>
                <c:pt idx="123">
                  <c:v>2393910.6</c:v>
                </c:pt>
                <c:pt idx="124">
                  <c:v>2347784.7</c:v>
                </c:pt>
                <c:pt idx="125">
                  <c:v>2466130.1</c:v>
                </c:pt>
                <c:pt idx="126">
                  <c:v>2422673</c:v>
                </c:pt>
                <c:pt idx="127">
                  <c:v>2428828.3</c:v>
                </c:pt>
                <c:pt idx="128">
                  <c:v>2351022.7</c:v>
                </c:pt>
                <c:pt idx="129">
                  <c:v>2231521.1</c:v>
                </c:pt>
                <c:pt idx="130">
                  <c:v>2208327</c:v>
                </c:pt>
                <c:pt idx="131">
                  <c:v>2186186.7</c:v>
                </c:pt>
                <c:pt idx="132">
                  <c:v>1989114.4</c:v>
                </c:pt>
                <c:pt idx="133">
                  <c:v>1909366.1</c:v>
                </c:pt>
                <c:pt idx="134">
                  <c:v>1831939.7</c:v>
                </c:pt>
                <c:pt idx="135">
                  <c:v>1771601</c:v>
                </c:pt>
                <c:pt idx="136">
                  <c:v>1673750.3</c:v>
                </c:pt>
                <c:pt idx="137">
                  <c:v>1570603.3</c:v>
                </c:pt>
                <c:pt idx="138">
                  <c:v>1490546</c:v>
                </c:pt>
                <c:pt idx="139">
                  <c:v>1332809.9</c:v>
                </c:pt>
                <c:pt idx="140">
                  <c:v>1246751.1</c:v>
                </c:pt>
                <c:pt idx="141">
                  <c:v>1122168.3</c:v>
                </c:pt>
                <c:pt idx="142">
                  <c:v>997341.4</c:v>
                </c:pt>
                <c:pt idx="143">
                  <c:v>917990.4</c:v>
                </c:pt>
                <c:pt idx="144">
                  <c:v>824229.4</c:v>
                </c:pt>
                <c:pt idx="145">
                  <c:v>775463.4</c:v>
                </c:pt>
                <c:pt idx="146">
                  <c:v>702397.6</c:v>
                </c:pt>
                <c:pt idx="147">
                  <c:v>634480</c:v>
                </c:pt>
                <c:pt idx="148">
                  <c:v>603080.4</c:v>
                </c:pt>
                <c:pt idx="149">
                  <c:v>588590.9</c:v>
                </c:pt>
                <c:pt idx="150">
                  <c:v>551402.3</c:v>
                </c:pt>
                <c:pt idx="151">
                  <c:v>560025.4</c:v>
                </c:pt>
                <c:pt idx="152">
                  <c:v>559120.7</c:v>
                </c:pt>
                <c:pt idx="153">
                  <c:v>562154.7</c:v>
                </c:pt>
                <c:pt idx="154">
                  <c:v>626742.1</c:v>
                </c:pt>
                <c:pt idx="155">
                  <c:v>656718.9</c:v>
                </c:pt>
                <c:pt idx="156">
                  <c:v>748588.6</c:v>
                </c:pt>
                <c:pt idx="157">
                  <c:v>749353.9</c:v>
                </c:pt>
                <c:pt idx="158">
                  <c:v>850508.9</c:v>
                </c:pt>
                <c:pt idx="159">
                  <c:v>975436.9</c:v>
                </c:pt>
                <c:pt idx="160">
                  <c:v>1074803.4</c:v>
                </c:pt>
                <c:pt idx="161">
                  <c:v>1105937.9</c:v>
                </c:pt>
                <c:pt idx="162">
                  <c:v>1236256</c:v>
                </c:pt>
                <c:pt idx="163">
                  <c:v>1375126.6</c:v>
                </c:pt>
                <c:pt idx="164">
                  <c:v>1431839.9</c:v>
                </c:pt>
                <c:pt idx="165">
                  <c:v>1587752.9</c:v>
                </c:pt>
                <c:pt idx="166">
                  <c:v>1749109.7</c:v>
                </c:pt>
                <c:pt idx="167">
                  <c:v>1762950.4</c:v>
                </c:pt>
                <c:pt idx="168">
                  <c:v>1819682.4</c:v>
                </c:pt>
                <c:pt idx="169">
                  <c:v>1959078.9</c:v>
                </c:pt>
                <c:pt idx="170">
                  <c:v>2081411.1</c:v>
                </c:pt>
                <c:pt idx="171">
                  <c:v>2151410</c:v>
                </c:pt>
                <c:pt idx="172">
                  <c:v>2239716.1</c:v>
                </c:pt>
                <c:pt idx="173">
                  <c:v>2323205.6</c:v>
                </c:pt>
                <c:pt idx="174">
                  <c:v>2359941.6</c:v>
                </c:pt>
                <c:pt idx="175">
                  <c:v>2265162.4</c:v>
                </c:pt>
                <c:pt idx="176">
                  <c:v>2358540.1</c:v>
                </c:pt>
                <c:pt idx="177">
                  <c:v>2451547.4</c:v>
                </c:pt>
                <c:pt idx="178">
                  <c:v>2479569</c:v>
                </c:pt>
                <c:pt idx="179">
                  <c:v>2447961.1</c:v>
                </c:pt>
                <c:pt idx="180">
                  <c:v>2450734.3</c:v>
                </c:pt>
                <c:pt idx="181">
                  <c:v>2384373.4</c:v>
                </c:pt>
                <c:pt idx="182">
                  <c:v>2374030.4</c:v>
                </c:pt>
                <c:pt idx="183">
                  <c:v>2249653.7</c:v>
                </c:pt>
                <c:pt idx="184">
                  <c:v>2250179.9</c:v>
                </c:pt>
                <c:pt idx="185">
                  <c:v>2158632</c:v>
                </c:pt>
                <c:pt idx="186">
                  <c:v>2067869</c:v>
                </c:pt>
                <c:pt idx="187">
                  <c:v>1952002.4</c:v>
                </c:pt>
                <c:pt idx="188">
                  <c:v>1872628</c:v>
                </c:pt>
                <c:pt idx="189">
                  <c:v>1768658.1</c:v>
                </c:pt>
                <c:pt idx="190">
                  <c:v>1644170.9</c:v>
                </c:pt>
                <c:pt idx="191">
                  <c:v>1547310.3</c:v>
                </c:pt>
                <c:pt idx="192">
                  <c:v>1379433.6</c:v>
                </c:pt>
                <c:pt idx="193">
                  <c:v>1316697.3</c:v>
                </c:pt>
                <c:pt idx="194">
                  <c:v>1185364</c:v>
                </c:pt>
                <c:pt idx="195">
                  <c:v>1097426.6</c:v>
                </c:pt>
                <c:pt idx="196">
                  <c:v>1043915.7</c:v>
                </c:pt>
                <c:pt idx="197">
                  <c:v>927449.3</c:v>
                </c:pt>
                <c:pt idx="198">
                  <c:v>838158.1</c:v>
                </c:pt>
                <c:pt idx="199">
                  <c:v>738511.7</c:v>
                </c:pt>
                <c:pt idx="200">
                  <c:v>697783.9</c:v>
                </c:pt>
                <c:pt idx="201">
                  <c:v>634426.1</c:v>
                </c:pt>
                <c:pt idx="202">
                  <c:v>609528.7</c:v>
                </c:pt>
                <c:pt idx="203">
                  <c:v>548204.7</c:v>
                </c:pt>
                <c:pt idx="204">
                  <c:v>555120.9</c:v>
                </c:pt>
                <c:pt idx="205">
                  <c:v>576677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68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8EE"/>
              </a:solidFill>
              <a:prstDash val="solid"/>
              <a:round/>
            </a:ln>
          </c:spPr>
        </c:majorGridlines>
        <c:numFmt formatCode="0.0,,&quot;M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68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1B25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CoviSpark runs one COVID-19 dataset through a small but complete big-data stack: HDFS for storage, a MapReduce job on YARN, five Spark jobs, and a web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Hadoop has one NameNode, two DataNodes, a ResourceManager and two NodeManagers. Spark has a master and two workers. All ten containers share the hadoop-net bridge network; project folders are bind-mounted so scripts reach the cluster and results come back to the host.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Mapper output: country, continent, new_cases, new_deaths separated by tabs. Hadoop sorts by country, so the reducer only needs a running sum. The cluster output is identical to the local pipe version: mapper | sort | reducer.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Flask exposes /api/status, /api/summary, /api/countries, /api/top10, /api/continents, /api/wave, /api/cfr and /api/vaccination. The front end is plain HTML, CSS and JavaScript with Chart.js bundled locally, in light and dark themes.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Numbers come from the generated dataset, not real statistics. Highest CFR: IRN at 2.475%. Peak of the smoothed global curve: 2023-06-22.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Daily global cases from the generated dataset with Spark's centred 7-day rolling average. The generator uses a 60-day sine period, which shows up as one wave a year over 1,440 days.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235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515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1B2533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6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6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CoviSpark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42900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</a:rPr>
              <a:t>Distributed COVID-19 data analysis with Hadoop MapReduce, Apache Spark and a web dashboard</a:t>
            </a:r>
            <a:endParaRPr lang="en-US" sz="2200" dirty="0"/>
          </a:p>
        </p:txBody>
      </p:sp>
      <p:pic>
        <p:nvPicPr>
          <p:cNvPr id="4" name="Image 0" descr="Global 7-day average curv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499799"/>
            <a:ext cx="12188952" cy="235820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CC"/>
                </a:solidFill>
              </a:rPr>
              <a:t>CSBB 422 · Big Data Analytics · Course project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9692640" y="1188720"/>
            <a:ext cx="777240" cy="777240"/>
          </a:xfrm>
          <a:prstGeom prst="ellipse">
            <a:avLst/>
          </a:prstGeom>
          <a:solidFill>
            <a:srgbClr val="1E4673"/>
          </a:solidFill>
          <a:ln w="12700">
            <a:solidFill>
              <a:srgbClr val="2C5A8C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6376" y="1362456"/>
            <a:ext cx="429768" cy="42976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509760" y="199339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HDFS + YARN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9692640" y="2331720"/>
            <a:ext cx="777240" cy="777240"/>
          </a:xfrm>
          <a:prstGeom prst="ellipse">
            <a:avLst/>
          </a:prstGeom>
          <a:solidFill>
            <a:srgbClr val="1E4673"/>
          </a:solidFill>
          <a:ln w="12700">
            <a:solidFill>
              <a:srgbClr val="2C5A8C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6376" y="2505456"/>
            <a:ext cx="429768" cy="42976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9509760" y="313639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Apache Spark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9692640" y="3474720"/>
            <a:ext cx="777240" cy="777240"/>
          </a:xfrm>
          <a:prstGeom prst="ellipse">
            <a:avLst/>
          </a:prstGeom>
          <a:solidFill>
            <a:srgbClr val="1E4673"/>
          </a:solidFill>
          <a:ln w="12700">
            <a:solidFill>
              <a:srgbClr val="2C5A8C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66376" y="3648456"/>
            <a:ext cx="429768" cy="429768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9509760" y="427939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Flask dashboard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533"/>
                </a:solidFill>
              </a:rPr>
              <a:t>The project at a glance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560320" cy="1600200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2355B"/>
                </a:solidFill>
              </a:rPr>
              <a:t>36,000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774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7686"/>
                </a:solidFill>
              </a:rPr>
              <a:t>rows in the dataset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364992" y="1371600"/>
            <a:ext cx="2560320" cy="1600200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64992" y="14630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2355B"/>
                </a:solidFill>
              </a:rPr>
              <a:t>25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3364992" y="23774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7686"/>
                </a:solidFill>
              </a:rPr>
              <a:t>countries, 2020–2023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81344" y="1371600"/>
            <a:ext cx="2560320" cy="1600200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81344" y="14630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2355B"/>
                </a:solidFill>
              </a:rPr>
              <a:t>10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6181344" y="23774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7686"/>
                </a:solidFill>
              </a:rPr>
              <a:t>Docker containers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997696" y="1371600"/>
            <a:ext cx="2560320" cy="1600200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97696" y="14630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2355B"/>
                </a:solidFill>
              </a:rPr>
              <a:t>1 + 5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8997696" y="23774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7686"/>
                </a:solidFill>
              </a:rPr>
              <a:t>MapReduce + Spark jobs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3520440"/>
            <a:ext cx="685800" cy="685800"/>
          </a:xfrm>
          <a:prstGeom prst="ellipse">
            <a:avLst/>
          </a:prstGeom>
          <a:solidFill>
            <a:srgbClr val="E6ECF3"/>
          </a:solidFill>
          <a:ln w="12700">
            <a:solidFill>
              <a:srgbClr val="E6ECF3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" y="3671316"/>
            <a:ext cx="384048" cy="384048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417320" y="35204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533"/>
                </a:solidFill>
              </a:rPr>
              <a:t>Store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1417320" y="3950208"/>
            <a:ext cx="2697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7686"/>
                </a:solidFill>
              </a:rPr>
              <a:t>The CSV goes into HDFS with a replication factor of 2, split across two DataNodes.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4297680" y="3520440"/>
            <a:ext cx="685800" cy="685800"/>
          </a:xfrm>
          <a:prstGeom prst="ellipse">
            <a:avLst/>
          </a:prstGeom>
          <a:solidFill>
            <a:srgbClr val="E6ECF3"/>
          </a:solidFill>
          <a:ln w="12700">
            <a:solidFill>
              <a:srgbClr val="E6ECF3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8556" y="3671316"/>
            <a:ext cx="384048" cy="384048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5166360" y="35204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533"/>
                </a:solidFill>
              </a:rPr>
              <a:t>Process</a:t>
            </a:r>
            <a:endParaRPr lang="en-US" sz="2000" dirty="0"/>
          </a:p>
        </p:txBody>
      </p:sp>
      <p:sp>
        <p:nvSpPr>
          <p:cNvPr id="22" name="Text 18"/>
          <p:cNvSpPr txBox="1"/>
          <p:nvPr/>
        </p:nvSpPr>
        <p:spPr>
          <a:xfrm>
            <a:off x="5166360" y="3950208"/>
            <a:ext cx="2697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7686"/>
                </a:solidFill>
              </a:rPr>
              <a:t>A Hadoop Streaming job totals each country on YARN; Spark runs five analyses on a two-worker cluster.</a:t>
            </a:r>
            <a:endParaRPr lang="en-US" sz="1500" dirty="0"/>
          </a:p>
        </p:txBody>
      </p:sp>
      <p:sp>
        <p:nvSpPr>
          <p:cNvPr id="23" name="Shape 19"/>
          <p:cNvSpPr/>
          <p:nvPr/>
        </p:nvSpPr>
        <p:spPr>
          <a:xfrm>
            <a:off x="8046720" y="3520440"/>
            <a:ext cx="685800" cy="685800"/>
          </a:xfrm>
          <a:prstGeom prst="ellipse">
            <a:avLst/>
          </a:prstGeom>
          <a:solidFill>
            <a:srgbClr val="E6ECF3"/>
          </a:solidFill>
          <a:ln w="12700">
            <a:solidFill>
              <a:srgbClr val="E6ECF3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7596" y="3671316"/>
            <a:ext cx="384048" cy="384048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8915400" y="35204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533"/>
                </a:solidFill>
              </a:rPr>
              <a:t>Present</a:t>
            </a:r>
            <a:endParaRPr lang="en-US" sz="2000" dirty="0"/>
          </a:p>
        </p:txBody>
      </p:sp>
      <p:sp>
        <p:nvSpPr>
          <p:cNvPr id="26" name="Text 21"/>
          <p:cNvSpPr txBox="1"/>
          <p:nvPr/>
        </p:nvSpPr>
        <p:spPr>
          <a:xfrm>
            <a:off x="8915400" y="3950208"/>
            <a:ext cx="2697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7686"/>
                </a:solidFill>
              </a:rPr>
              <a:t>Flask serves the result files as JSON; a six-view dashboard turns them into charts and tables.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6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533"/>
                </a:solidFill>
              </a:rPr>
              <a:t>Ten containers, one network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394960" cy="2651760"/>
          </a:xfrm>
          <a:prstGeom prst="roundRect">
            <a:avLst>
              <a:gd name="adj" fmla="val 4138"/>
            </a:avLst>
          </a:prstGeom>
          <a:solidFill>
            <a:srgbClr val="FBF1E2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0759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9F3E"/>
                </a:solidFill>
              </a:rPr>
              <a:t>Hadoop: HDFS + YARN</a:t>
            </a:r>
            <a:endParaRPr lang="en-US" sz="1300" dirty="0"/>
          </a:p>
        </p:txBody>
      </p:sp>
      <p:sp>
        <p:nvSpPr>
          <p:cNvPr id="5" name="box0"/>
          <p:cNvSpPr/>
          <p:nvPr/>
        </p:nvSpPr>
        <p:spPr>
          <a:xfrm>
            <a:off x="777240" y="1691640"/>
            <a:ext cx="23774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E09F3E"/>
            </a:solidFill>
            <a:prstDash val="solid"/>
          </a:ln>
          <a:effectLst>
            <a:outerShdw sx="100000" sy="100000" kx="0" ky="0" algn="bl" rotWithShape="0" blurRad="50800" dist="19050" dir="5400000">
              <a:srgbClr val="1B2533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1691640"/>
            <a:ext cx="237744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B2533"/>
                </a:solidFill>
              </a:rPr>
              <a:t>namenode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B7686"/>
                </a:solidFill>
              </a:rPr>
              <a:t>:9870  :9000</a:t>
            </a:r>
            <a:endParaRPr lang="en-US" sz="1500" dirty="0"/>
          </a:p>
        </p:txBody>
      </p:sp>
      <p:sp>
        <p:nvSpPr>
          <p:cNvPr id="7" name="box1"/>
          <p:cNvSpPr/>
          <p:nvPr/>
        </p:nvSpPr>
        <p:spPr>
          <a:xfrm>
            <a:off x="3337560" y="1691640"/>
            <a:ext cx="23774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E09F3E"/>
            </a:solidFill>
            <a:prstDash val="solid"/>
          </a:ln>
          <a:effectLst>
            <a:outerShdw sx="100000" sy="100000" kx="0" ky="0" algn="bl" rotWithShape="0" blurRad="50800" dist="19050" dir="5400000">
              <a:srgbClr val="1B2533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337560" y="1691640"/>
            <a:ext cx="237744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B2533"/>
                </a:solidFill>
              </a:rPr>
              <a:t>resourcemanager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B7686"/>
                </a:solidFill>
              </a:rPr>
              <a:t>:8088</a:t>
            </a:r>
            <a:endParaRPr lang="en-US" sz="1500" dirty="0"/>
          </a:p>
        </p:txBody>
      </p:sp>
      <p:sp>
        <p:nvSpPr>
          <p:cNvPr id="9" name="box2"/>
          <p:cNvSpPr/>
          <p:nvPr/>
        </p:nvSpPr>
        <p:spPr>
          <a:xfrm>
            <a:off x="777240" y="2926080"/>
            <a:ext cx="11430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09F3E"/>
            </a:solidFill>
            <a:prstDash val="solid"/>
          </a:ln>
          <a:effectLst>
            <a:outerShdw sx="100000" sy="100000" kx="0" ky="0" algn="bl" rotWithShape="0" blurRad="50800" dist="19050" dir="5400000">
              <a:srgbClr val="1B2533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77240" y="2926080"/>
            <a:ext cx="11430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B2533"/>
                </a:solidFill>
              </a:rPr>
              <a:t>datanode1</a:t>
            </a:r>
            <a:endParaRPr lang="en-US" sz="1200" dirty="0"/>
          </a:p>
        </p:txBody>
      </p:sp>
      <p:sp>
        <p:nvSpPr>
          <p:cNvPr id="11" name="box3"/>
          <p:cNvSpPr/>
          <p:nvPr/>
        </p:nvSpPr>
        <p:spPr>
          <a:xfrm>
            <a:off x="2034540" y="2926080"/>
            <a:ext cx="11430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09F3E"/>
            </a:solidFill>
            <a:prstDash val="solid"/>
          </a:ln>
          <a:effectLst>
            <a:outerShdw sx="100000" sy="100000" kx="0" ky="0" algn="bl" rotWithShape="0" blurRad="50800" dist="19050" dir="5400000">
              <a:srgbClr val="1B2533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2034540" y="2926080"/>
            <a:ext cx="11430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B2533"/>
                </a:solidFill>
              </a:rPr>
              <a:t>datanode2</a:t>
            </a:r>
            <a:endParaRPr lang="en-US" sz="1200" dirty="0"/>
          </a:p>
        </p:txBody>
      </p:sp>
      <p:sp>
        <p:nvSpPr>
          <p:cNvPr id="13" name="box4"/>
          <p:cNvSpPr/>
          <p:nvPr/>
        </p:nvSpPr>
        <p:spPr>
          <a:xfrm>
            <a:off x="3291840" y="2926080"/>
            <a:ext cx="11430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09F3E"/>
            </a:solidFill>
            <a:prstDash val="solid"/>
          </a:ln>
          <a:effectLst>
            <a:outerShdw sx="100000" sy="100000" kx="0" ky="0" algn="bl" rotWithShape="0" blurRad="50800" dist="19050" dir="5400000">
              <a:srgbClr val="1B2533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3291840" y="2926080"/>
            <a:ext cx="11430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B2533"/>
                </a:solidFill>
              </a:rPr>
              <a:t>nodemanager1</a:t>
            </a:r>
            <a:endParaRPr lang="en-US" sz="1200" dirty="0"/>
          </a:p>
        </p:txBody>
      </p:sp>
      <p:sp>
        <p:nvSpPr>
          <p:cNvPr id="15" name="box5"/>
          <p:cNvSpPr/>
          <p:nvPr/>
        </p:nvSpPr>
        <p:spPr>
          <a:xfrm>
            <a:off x="4549140" y="2926080"/>
            <a:ext cx="11430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09F3E"/>
            </a:solidFill>
            <a:prstDash val="solid"/>
          </a:ln>
          <a:effectLst>
            <a:outerShdw sx="100000" sy="100000" kx="0" ky="0" algn="bl" rotWithShape="0" blurRad="50800" dist="19050" dir="5400000">
              <a:srgbClr val="1B2533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549140" y="2926080"/>
            <a:ext cx="11430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B2533"/>
                </a:solidFill>
              </a:rPr>
              <a:t>nodemanager2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 flipH="1">
            <a:off x="1325880" y="2560320"/>
            <a:ext cx="228600" cy="365760"/>
          </a:xfrm>
          <a:prstGeom prst="line">
            <a:avLst/>
          </a:prstGeom>
          <a:noFill/>
          <a:ln w="19050">
            <a:solidFill>
              <a:srgbClr val="E09F3E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377440" y="2560320"/>
            <a:ext cx="228600" cy="365760"/>
          </a:xfrm>
          <a:prstGeom prst="line">
            <a:avLst/>
          </a:prstGeom>
          <a:noFill/>
          <a:ln w="19050">
            <a:solidFill>
              <a:srgbClr val="E09F3E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 flipH="1">
            <a:off x="3840480" y="2560320"/>
            <a:ext cx="274320" cy="365760"/>
          </a:xfrm>
          <a:prstGeom prst="line">
            <a:avLst/>
          </a:prstGeom>
          <a:noFill/>
          <a:ln w="19050">
            <a:solidFill>
              <a:srgbClr val="E09F3E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937760" y="2560320"/>
            <a:ext cx="182880" cy="365760"/>
          </a:xfrm>
          <a:prstGeom prst="line">
            <a:avLst/>
          </a:prstGeom>
          <a:noFill/>
          <a:ln w="19050">
            <a:solidFill>
              <a:srgbClr val="E09F3E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217920" y="1234440"/>
            <a:ext cx="5394960" cy="2651760"/>
          </a:xfrm>
          <a:prstGeom prst="roundRect">
            <a:avLst>
              <a:gd name="adj" fmla="val 4138"/>
            </a:avLst>
          </a:prstGeom>
          <a:solidFill>
            <a:srgbClr val="FBE8EA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55080" y="130759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1495B"/>
                </a:solidFill>
              </a:rPr>
              <a:t>Apache Spark: standalone cluster</a:t>
            </a:r>
            <a:endParaRPr lang="en-US" sz="1300" dirty="0"/>
          </a:p>
        </p:txBody>
      </p:sp>
      <p:sp>
        <p:nvSpPr>
          <p:cNvPr id="23" name="box6"/>
          <p:cNvSpPr/>
          <p:nvPr/>
        </p:nvSpPr>
        <p:spPr>
          <a:xfrm>
            <a:off x="7726680" y="1691640"/>
            <a:ext cx="23774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D1495B"/>
            </a:solidFill>
            <a:prstDash val="solid"/>
          </a:ln>
          <a:effectLst>
            <a:outerShdw sx="100000" sy="100000" kx="0" ky="0" algn="bl" rotWithShape="0" blurRad="50800" dist="19050" dir="5400000">
              <a:srgbClr val="1B2533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7726680" y="1691640"/>
            <a:ext cx="237744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B2533"/>
                </a:solidFill>
              </a:rPr>
              <a:t>spark-master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B7686"/>
                </a:solidFill>
              </a:rPr>
              <a:t>:8080  :7077</a:t>
            </a:r>
            <a:endParaRPr lang="en-US" sz="1500" dirty="0"/>
          </a:p>
        </p:txBody>
      </p:sp>
      <p:sp>
        <p:nvSpPr>
          <p:cNvPr id="25" name="box7"/>
          <p:cNvSpPr/>
          <p:nvPr/>
        </p:nvSpPr>
        <p:spPr>
          <a:xfrm>
            <a:off x="6446520" y="2926080"/>
            <a:ext cx="22402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1495B"/>
            </a:solidFill>
            <a:prstDash val="solid"/>
          </a:ln>
          <a:effectLst>
            <a:outerShdw sx="100000" sy="100000" kx="0" ky="0" algn="bl" rotWithShape="0" blurRad="50800" dist="19050" dir="5400000">
              <a:srgbClr val="1B2533">
                <a:alpha val="12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6446520" y="2926080"/>
            <a:ext cx="22402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2533"/>
                </a:solidFill>
              </a:rPr>
              <a:t>spark-worker1</a:t>
            </a:r>
            <a:endParaRPr lang="en-US" sz="13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B7686"/>
                </a:solidFill>
              </a:rPr>
              <a:t>2 cores · 1 GB</a:t>
            </a:r>
            <a:endParaRPr lang="en-US" sz="1300" dirty="0"/>
          </a:p>
        </p:txBody>
      </p:sp>
      <p:sp>
        <p:nvSpPr>
          <p:cNvPr id="27" name="box8"/>
          <p:cNvSpPr/>
          <p:nvPr/>
        </p:nvSpPr>
        <p:spPr>
          <a:xfrm>
            <a:off x="9144000" y="2926080"/>
            <a:ext cx="22402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1495B"/>
            </a:solidFill>
            <a:prstDash val="solid"/>
          </a:ln>
          <a:effectLst>
            <a:outerShdw sx="100000" sy="100000" kx="0" ky="0" algn="bl" rotWithShape="0" blurRad="50800" dist="19050" dir="5400000">
              <a:srgbClr val="1B2533">
                <a:alpha val="12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9144000" y="2926080"/>
            <a:ext cx="22402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2533"/>
                </a:solidFill>
              </a:rPr>
              <a:t>spark-worker2</a:t>
            </a:r>
            <a:endParaRPr lang="en-US" sz="13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B7686"/>
                </a:solidFill>
              </a:rPr>
              <a:t>2 cores · 1 GB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 flipH="1">
            <a:off x="7680960" y="2560320"/>
            <a:ext cx="640080" cy="365760"/>
          </a:xfrm>
          <a:prstGeom prst="line">
            <a:avLst/>
          </a:prstGeom>
          <a:noFill/>
          <a:ln w="19050">
            <a:solidFill>
              <a:srgbClr val="D1495B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509760" y="2560320"/>
            <a:ext cx="640080" cy="365760"/>
          </a:xfrm>
          <a:prstGeom prst="line">
            <a:avLst/>
          </a:prstGeom>
          <a:noFill/>
          <a:ln w="19050">
            <a:solidFill>
              <a:srgbClr val="D1495B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548640" y="4160520"/>
            <a:ext cx="11064240" cy="2011680"/>
          </a:xfrm>
          <a:prstGeom prst="roundRect">
            <a:avLst>
              <a:gd name="adj" fmla="val 5455"/>
            </a:avLst>
          </a:prstGeom>
          <a:solidFill>
            <a:srgbClr val="E6ECF3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85800" y="423367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55B"/>
                </a:solidFill>
              </a:rPr>
              <a:t>Host folders, bind-mounted into the containers</a:t>
            </a:r>
            <a:endParaRPr lang="en-US" sz="1300" dirty="0"/>
          </a:p>
        </p:txBody>
      </p:sp>
      <p:sp>
        <p:nvSpPr>
          <p:cNvPr id="33" name="box9"/>
          <p:cNvSpPr/>
          <p:nvPr/>
        </p:nvSpPr>
        <p:spPr>
          <a:xfrm>
            <a:off x="822960" y="470916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875">
            <a:solidFill>
              <a:srgbClr val="12355B"/>
            </a:solidFill>
            <a:prstDash val="solid"/>
          </a:ln>
          <a:effectLst>
            <a:outerShdw sx="100000" sy="100000" kx="0" ky="0" algn="bl" rotWithShape="0" blurRad="50800" dist="19050" dir="5400000">
              <a:srgbClr val="1B2533">
                <a:alpha val="12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822960" y="4709160"/>
            <a:ext cx="1920240" cy="1143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B2533"/>
                </a:solidFill>
              </a:rPr>
              <a:t>./data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B7686"/>
                </a:solidFill>
              </a:rPr>
              <a:t>input CSV</a:t>
            </a:r>
            <a:endParaRPr lang="en-US" sz="1500" dirty="0"/>
          </a:p>
        </p:txBody>
      </p:sp>
      <p:sp>
        <p:nvSpPr>
          <p:cNvPr id="35" name="box10"/>
          <p:cNvSpPr/>
          <p:nvPr/>
        </p:nvSpPr>
        <p:spPr>
          <a:xfrm>
            <a:off x="2971800" y="470916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875">
            <a:solidFill>
              <a:srgbClr val="12355B"/>
            </a:solidFill>
            <a:prstDash val="solid"/>
          </a:ln>
          <a:effectLst>
            <a:outerShdw sx="100000" sy="100000" kx="0" ky="0" algn="bl" rotWithShape="0" blurRad="50800" dist="19050" dir="5400000">
              <a:srgbClr val="1B2533">
                <a:alpha val="12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2971800" y="4709160"/>
            <a:ext cx="1920240" cy="1143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B2533"/>
                </a:solidFill>
              </a:rPr>
              <a:t>./mapreduce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B7686"/>
                </a:solidFill>
              </a:rPr>
              <a:t>mapper, reducer</a:t>
            </a:r>
            <a:endParaRPr lang="en-US" sz="1500" dirty="0"/>
          </a:p>
        </p:txBody>
      </p:sp>
      <p:sp>
        <p:nvSpPr>
          <p:cNvPr id="37" name="box11"/>
          <p:cNvSpPr/>
          <p:nvPr/>
        </p:nvSpPr>
        <p:spPr>
          <a:xfrm>
            <a:off x="5120640" y="470916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875">
            <a:solidFill>
              <a:srgbClr val="12355B"/>
            </a:solidFill>
            <a:prstDash val="solid"/>
          </a:ln>
          <a:effectLst>
            <a:outerShdw sx="100000" sy="100000" kx="0" ky="0" algn="bl" rotWithShape="0" blurRad="50800" dist="19050" dir="5400000">
              <a:srgbClr val="1B2533">
                <a:alpha val="12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5120640" y="4709160"/>
            <a:ext cx="1920240" cy="1143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B2533"/>
                </a:solidFill>
              </a:rPr>
              <a:t>./spark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B7686"/>
                </a:solidFill>
              </a:rPr>
              <a:t>PySpark script</a:t>
            </a:r>
            <a:endParaRPr lang="en-US" sz="1500" dirty="0"/>
          </a:p>
        </p:txBody>
      </p:sp>
      <p:sp>
        <p:nvSpPr>
          <p:cNvPr id="39" name="box12"/>
          <p:cNvSpPr/>
          <p:nvPr/>
        </p:nvSpPr>
        <p:spPr>
          <a:xfrm>
            <a:off x="7269480" y="470916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875">
            <a:solidFill>
              <a:srgbClr val="12355B"/>
            </a:solidFill>
            <a:prstDash val="solid"/>
          </a:ln>
          <a:effectLst>
            <a:outerShdw sx="100000" sy="100000" kx="0" ky="0" algn="bl" rotWithShape="0" blurRad="50800" dist="19050" dir="5400000">
              <a:srgbClr val="1B2533">
                <a:alpha val="12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7269480" y="4709160"/>
            <a:ext cx="1920240" cy="1143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B2533"/>
                </a:solidFill>
              </a:rPr>
              <a:t>./results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B7686"/>
                </a:solidFill>
              </a:rPr>
              <a:t>JSON + CSV</a:t>
            </a:r>
            <a:endParaRPr lang="en-US" sz="1500" dirty="0"/>
          </a:p>
        </p:txBody>
      </p:sp>
      <p:sp>
        <p:nvSpPr>
          <p:cNvPr id="41" name="box13"/>
          <p:cNvSpPr/>
          <p:nvPr/>
        </p:nvSpPr>
        <p:spPr>
          <a:xfrm>
            <a:off x="9601200" y="4572000"/>
            <a:ext cx="1783080" cy="1325880"/>
          </a:xfrm>
          <a:prstGeom prst="roundRect">
            <a:avLst>
              <a:gd name="adj" fmla="val 5517"/>
            </a:avLst>
          </a:prstGeom>
          <a:solidFill>
            <a:srgbClr val="E3F4F1"/>
          </a:solidFill>
          <a:ln w="15875">
            <a:solidFill>
              <a:srgbClr val="1B998B"/>
            </a:solidFill>
            <a:prstDash val="solid"/>
          </a:ln>
          <a:effectLst>
            <a:outerShdw sx="100000" sy="100000" kx="0" ky="0" algn="bl" rotWithShape="0" blurRad="50800" dist="19050" dir="5400000">
              <a:srgbClr val="1B2533">
                <a:alpha val="12000"/>
              </a:srgbClr>
            </a:outerShdw>
          </a:effectLst>
        </p:spPr>
      </p:sp>
      <p:sp>
        <p:nvSpPr>
          <p:cNvPr id="42" name="Text 40"/>
          <p:cNvSpPr txBox="1"/>
          <p:nvPr/>
        </p:nvSpPr>
        <p:spPr>
          <a:xfrm>
            <a:off x="9601200" y="4572000"/>
            <a:ext cx="1783080" cy="1325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B2533"/>
                </a:solidFill>
              </a:rPr>
              <a:t>dashboard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B7686"/>
                </a:solidFill>
              </a:rPr>
              <a:t>Flask · :5000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8778240" y="5285232"/>
            <a:ext cx="822960" cy="914"/>
          </a:xfrm>
          <a:prstGeom prst="line">
            <a:avLst/>
          </a:prstGeom>
          <a:noFill/>
          <a:ln w="19050">
            <a:solidFill>
              <a:srgbClr val="1B998B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6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533"/>
                </a:solidFill>
              </a:rPr>
              <a:t>Technology stack, layer by layer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E3F4F1"/>
          </a:solidFill>
          <a:ln w="15875">
            <a:solidFill>
              <a:srgbClr val="1B998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2801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533"/>
                </a:solidFill>
              </a:rPr>
              <a:t>Presentation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3566160" y="128016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533"/>
                </a:solidFill>
              </a:rPr>
              <a:t>Flask 3.0 REST API · HTML/CSS/JS · Chart.js 4.4 (bundled)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58368" y="2103120"/>
            <a:ext cx="10844784" cy="685800"/>
          </a:xfrm>
          <a:prstGeom prst="roundRect">
            <a:avLst>
              <a:gd name="adj" fmla="val 10667"/>
            </a:avLst>
          </a:prstGeom>
          <a:solidFill>
            <a:srgbClr val="FBE8EA"/>
          </a:solidFill>
          <a:ln w="15875">
            <a:solidFill>
              <a:srgbClr val="D1495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6968" y="21031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533"/>
                </a:solidFill>
              </a:rPr>
              <a:t>Analytics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2103120"/>
            <a:ext cx="7571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533"/>
                </a:solidFill>
              </a:rPr>
              <a:t>Apache Spark 3.5 · PySpark DataFrames, window functions, cache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68096" y="2926080"/>
            <a:ext cx="10625328" cy="685800"/>
          </a:xfrm>
          <a:prstGeom prst="roundRect">
            <a:avLst>
              <a:gd name="adj" fmla="val 10667"/>
            </a:avLst>
          </a:prstGeom>
          <a:solidFill>
            <a:srgbClr val="FBF1E2"/>
          </a:solidFill>
          <a:ln w="15875">
            <a:solidFill>
              <a:srgbClr val="E09F3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96696" y="29260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533"/>
                </a:solidFill>
              </a:rPr>
              <a:t>Batch processing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2926080"/>
            <a:ext cx="74615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533"/>
                </a:solidFill>
              </a:rPr>
              <a:t>Hadoop Streaming 3.2.1 · Python mapper and reducer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77824" y="3749040"/>
            <a:ext cx="10405872" cy="685800"/>
          </a:xfrm>
          <a:prstGeom prst="roundRect">
            <a:avLst>
              <a:gd name="adj" fmla="val 10667"/>
            </a:avLst>
          </a:prstGeom>
          <a:solidFill>
            <a:srgbClr val="FBF1E2"/>
          </a:solidFill>
          <a:ln w="15875">
            <a:solidFill>
              <a:srgbClr val="E09F3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06424" y="37490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533"/>
                </a:solidFill>
              </a:rPr>
              <a:t>Scheduling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3749040"/>
            <a:ext cx="73517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533"/>
                </a:solidFill>
              </a:rPr>
              <a:t>YARN · ResourceManager + 2 NodeManagers, 512 MB containers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87552" y="4572000"/>
            <a:ext cx="10186416" cy="685800"/>
          </a:xfrm>
          <a:prstGeom prst="roundRect">
            <a:avLst>
              <a:gd name="adj" fmla="val 10667"/>
            </a:avLst>
          </a:prstGeom>
          <a:solidFill>
            <a:srgbClr val="E6ECF3"/>
          </a:solidFill>
          <a:ln w="15875">
            <a:solidFill>
              <a:srgbClr val="12355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216152" y="45720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533"/>
                </a:solidFill>
              </a:rPr>
              <a:t>Storage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3566160" y="4572000"/>
            <a:ext cx="7242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533"/>
                </a:solidFill>
              </a:rPr>
              <a:t>HDFS · NameNode + 2 DataNodes, replication factor 2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097280" y="5394960"/>
            <a:ext cx="9966960" cy="685800"/>
          </a:xfrm>
          <a:prstGeom prst="roundRect">
            <a:avLst>
              <a:gd name="adj" fmla="val 10667"/>
            </a:avLst>
          </a:prstGeom>
          <a:solidFill>
            <a:srgbClr val="EEF1F5"/>
          </a:solidFill>
          <a:ln w="15875">
            <a:solidFill>
              <a:srgbClr val="6B768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325880" y="53949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533"/>
                </a:solidFill>
              </a:rPr>
              <a:t>Infrastructure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3566160" y="539496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533"/>
                </a:solidFill>
              </a:rPr>
              <a:t>Docker Compose · 10 services on one bridge network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6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533"/>
                </a:solidFill>
              </a:rPr>
              <a:t>How data moves through the system</a:t>
            </a:r>
            <a:endParaRPr lang="en-US" sz="3200" dirty="0"/>
          </a:p>
        </p:txBody>
      </p:sp>
      <p:sp>
        <p:nvSpPr>
          <p:cNvPr id="3" name="box14"/>
          <p:cNvSpPr/>
          <p:nvPr/>
        </p:nvSpPr>
        <p:spPr>
          <a:xfrm>
            <a:off x="548640" y="1920240"/>
            <a:ext cx="1645920" cy="1463040"/>
          </a:xfrm>
          <a:prstGeom prst="roundRect">
            <a:avLst>
              <a:gd name="adj" fmla="val 5000"/>
            </a:avLst>
          </a:prstGeom>
          <a:solidFill>
            <a:srgbClr val="E6ECF3"/>
          </a:solidFill>
          <a:ln w="15875">
            <a:solidFill>
              <a:srgbClr val="12355B"/>
            </a:solidFill>
            <a:prstDash val="solid"/>
          </a:ln>
          <a:effectLst>
            <a:outerShdw sx="100000" sy="100000" kx="0" ky="0" algn="bl" rotWithShape="0" blurRad="50800" dist="19050" dir="5400000">
              <a:srgbClr val="1B2533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48640" y="1920240"/>
            <a:ext cx="1645920" cy="1463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1B2533"/>
                </a:solidFill>
              </a:rPr>
              <a:t>Dataset</a:t>
            </a:r>
            <a:endParaRPr lang="en-US" sz="18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6B7686"/>
                </a:solidFill>
              </a:rPr>
              <a:t>OWID CSV</a:t>
            </a:r>
            <a:endParaRPr lang="en-US" sz="18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6B7686"/>
                </a:solidFill>
              </a:rPr>
              <a:t>36,000 rows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212848" y="2651760"/>
            <a:ext cx="210312" cy="914"/>
          </a:xfrm>
          <a:prstGeom prst="line">
            <a:avLst/>
          </a:prstGeom>
          <a:noFill/>
          <a:ln w="19050">
            <a:solidFill>
              <a:srgbClr val="1B2533"/>
            </a:solidFill>
            <a:prstDash val="solid"/>
            <a:tailEnd type="triangle"/>
          </a:ln>
        </p:spPr>
      </p:sp>
      <p:sp>
        <p:nvSpPr>
          <p:cNvPr id="6" name="box15"/>
          <p:cNvSpPr/>
          <p:nvPr/>
        </p:nvSpPr>
        <p:spPr>
          <a:xfrm>
            <a:off x="2441448" y="1920240"/>
            <a:ext cx="1645920" cy="1463040"/>
          </a:xfrm>
          <a:prstGeom prst="roundRect">
            <a:avLst>
              <a:gd name="adj" fmla="val 5000"/>
            </a:avLst>
          </a:prstGeom>
          <a:solidFill>
            <a:srgbClr val="FBF1E2"/>
          </a:solidFill>
          <a:ln w="15875">
            <a:solidFill>
              <a:srgbClr val="E09F3E"/>
            </a:solidFill>
            <a:prstDash val="solid"/>
          </a:ln>
          <a:effectLst>
            <a:outerShdw sx="100000" sy="100000" kx="0" ky="0" algn="bl" rotWithShape="0" blurRad="50800" dist="19050" dir="5400000">
              <a:srgbClr val="1B2533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2441448" y="1920240"/>
            <a:ext cx="1645920" cy="1463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1B2533"/>
                </a:solidFill>
              </a:rPr>
              <a:t>HDFS</a:t>
            </a:r>
            <a:endParaRPr lang="en-US" sz="18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6B7686"/>
                </a:solidFill>
              </a:rPr>
              <a:t>/covid19/input</a:t>
            </a:r>
            <a:endParaRPr lang="en-US" sz="18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6B7686"/>
                </a:solidFill>
              </a:rPr>
              <a:t>replication 2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105656" y="2651760"/>
            <a:ext cx="210312" cy="914"/>
          </a:xfrm>
          <a:prstGeom prst="line">
            <a:avLst/>
          </a:prstGeom>
          <a:noFill/>
          <a:ln w="19050">
            <a:solidFill>
              <a:srgbClr val="1B2533"/>
            </a:solidFill>
            <a:prstDash val="solid"/>
            <a:tailEnd type="triangle"/>
          </a:ln>
        </p:spPr>
      </p:sp>
      <p:sp>
        <p:nvSpPr>
          <p:cNvPr id="9" name="box16"/>
          <p:cNvSpPr/>
          <p:nvPr/>
        </p:nvSpPr>
        <p:spPr>
          <a:xfrm>
            <a:off x="4334256" y="1920240"/>
            <a:ext cx="1645920" cy="1463040"/>
          </a:xfrm>
          <a:prstGeom prst="roundRect">
            <a:avLst>
              <a:gd name="adj" fmla="val 5000"/>
            </a:avLst>
          </a:prstGeom>
          <a:solidFill>
            <a:srgbClr val="FBF1E2"/>
          </a:solidFill>
          <a:ln w="15875">
            <a:solidFill>
              <a:srgbClr val="E09F3E"/>
            </a:solidFill>
            <a:prstDash val="solid"/>
          </a:ln>
          <a:effectLst>
            <a:outerShdw sx="100000" sy="100000" kx="0" ky="0" algn="bl" rotWithShape="0" blurRad="50800" dist="19050" dir="5400000">
              <a:srgbClr val="1B2533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334256" y="1920240"/>
            <a:ext cx="1645920" cy="1463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1B2533"/>
                </a:solidFill>
              </a:rPr>
              <a:t>MapReduce</a:t>
            </a:r>
            <a:endParaRPr lang="en-US" sz="18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6B7686"/>
                </a:solidFill>
              </a:rPr>
              <a:t>country totals</a:t>
            </a:r>
            <a:endParaRPr lang="en-US" sz="18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6B7686"/>
                </a:solidFill>
              </a:rPr>
              <a:t>on YARN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998464" y="2651760"/>
            <a:ext cx="210312" cy="914"/>
          </a:xfrm>
          <a:prstGeom prst="line">
            <a:avLst/>
          </a:prstGeom>
          <a:noFill/>
          <a:ln w="19050">
            <a:solidFill>
              <a:srgbClr val="1B2533"/>
            </a:solidFill>
            <a:prstDash val="solid"/>
            <a:tailEnd type="triangle"/>
          </a:ln>
        </p:spPr>
      </p:sp>
      <p:sp>
        <p:nvSpPr>
          <p:cNvPr id="12" name="box17"/>
          <p:cNvSpPr/>
          <p:nvPr/>
        </p:nvSpPr>
        <p:spPr>
          <a:xfrm>
            <a:off x="6227064" y="1920240"/>
            <a:ext cx="1645920" cy="1463040"/>
          </a:xfrm>
          <a:prstGeom prst="roundRect">
            <a:avLst>
              <a:gd name="adj" fmla="val 5000"/>
            </a:avLst>
          </a:prstGeom>
          <a:solidFill>
            <a:srgbClr val="FBE8EA"/>
          </a:solidFill>
          <a:ln w="15875">
            <a:solidFill>
              <a:srgbClr val="D1495B"/>
            </a:solidFill>
            <a:prstDash val="solid"/>
          </a:ln>
          <a:effectLst>
            <a:outerShdw sx="100000" sy="100000" kx="0" ky="0" algn="bl" rotWithShape="0" blurRad="50800" dist="19050" dir="5400000">
              <a:srgbClr val="1B2533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227064" y="1920240"/>
            <a:ext cx="1645920" cy="1463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1B2533"/>
                </a:solidFill>
              </a:rPr>
              <a:t>Spark</a:t>
            </a:r>
            <a:endParaRPr lang="en-US" sz="18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6B7686"/>
                </a:solidFill>
              </a:rPr>
              <a:t>5 jobs on</a:t>
            </a:r>
            <a:endParaRPr lang="en-US" sz="18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6B7686"/>
                </a:solidFill>
              </a:rPr>
              <a:t>2 workers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891272" y="2651760"/>
            <a:ext cx="210312" cy="914"/>
          </a:xfrm>
          <a:prstGeom prst="line">
            <a:avLst/>
          </a:prstGeom>
          <a:noFill/>
          <a:ln w="19050">
            <a:solidFill>
              <a:srgbClr val="1B2533"/>
            </a:solidFill>
            <a:prstDash val="solid"/>
            <a:tailEnd type="triangle"/>
          </a:ln>
        </p:spPr>
      </p:sp>
      <p:sp>
        <p:nvSpPr>
          <p:cNvPr id="15" name="box18"/>
          <p:cNvSpPr/>
          <p:nvPr/>
        </p:nvSpPr>
        <p:spPr>
          <a:xfrm>
            <a:off x="8119872" y="1920240"/>
            <a:ext cx="1645920" cy="1463040"/>
          </a:xfrm>
          <a:prstGeom prst="roundRect">
            <a:avLst>
              <a:gd name="adj" fmla="val 5000"/>
            </a:avLst>
          </a:prstGeom>
          <a:solidFill>
            <a:srgbClr val="E6ECF3"/>
          </a:solidFill>
          <a:ln w="15875">
            <a:solidFill>
              <a:srgbClr val="12355B"/>
            </a:solidFill>
            <a:prstDash val="solid"/>
          </a:ln>
          <a:effectLst>
            <a:outerShdw sx="100000" sy="100000" kx="0" ky="0" algn="bl" rotWithShape="0" blurRad="50800" dist="19050" dir="5400000">
              <a:srgbClr val="1B2533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119872" y="1920240"/>
            <a:ext cx="1645920" cy="1463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1B2533"/>
                </a:solidFill>
              </a:rPr>
              <a:t>results/</a:t>
            </a:r>
            <a:endParaRPr lang="en-US" sz="18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6B7686"/>
                </a:solidFill>
              </a:rPr>
              <a:t>5 JSON files</a:t>
            </a:r>
            <a:endParaRPr lang="en-US" sz="18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6B7686"/>
                </a:solidFill>
              </a:rPr>
              <a:t>+ 1 CSV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784080" y="2651760"/>
            <a:ext cx="210312" cy="914"/>
          </a:xfrm>
          <a:prstGeom prst="line">
            <a:avLst/>
          </a:prstGeom>
          <a:noFill/>
          <a:ln w="19050">
            <a:solidFill>
              <a:srgbClr val="1B2533"/>
            </a:solidFill>
            <a:prstDash val="solid"/>
            <a:tailEnd type="triangle"/>
          </a:ln>
        </p:spPr>
      </p:sp>
      <p:sp>
        <p:nvSpPr>
          <p:cNvPr id="18" name="box19"/>
          <p:cNvSpPr/>
          <p:nvPr/>
        </p:nvSpPr>
        <p:spPr>
          <a:xfrm>
            <a:off x="10012680" y="1920240"/>
            <a:ext cx="1645920" cy="1463040"/>
          </a:xfrm>
          <a:prstGeom prst="roundRect">
            <a:avLst>
              <a:gd name="adj" fmla="val 5000"/>
            </a:avLst>
          </a:prstGeom>
          <a:solidFill>
            <a:srgbClr val="E3F4F1"/>
          </a:solidFill>
          <a:ln w="15875">
            <a:solidFill>
              <a:srgbClr val="1B998B"/>
            </a:solidFill>
            <a:prstDash val="solid"/>
          </a:ln>
          <a:effectLst>
            <a:outerShdw sx="100000" sy="100000" kx="0" ky="0" algn="bl" rotWithShape="0" blurRad="50800" dist="19050" dir="5400000">
              <a:srgbClr val="1B2533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10012680" y="1920240"/>
            <a:ext cx="1645920" cy="1463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1B2533"/>
                </a:solidFill>
              </a:rPr>
              <a:t>Dashboard</a:t>
            </a:r>
            <a:endParaRPr lang="en-US" sz="18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6B7686"/>
                </a:solidFill>
              </a:rPr>
              <a:t>Flask API</a:t>
            </a:r>
            <a:endParaRPr lang="en-US" sz="18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6B7686"/>
                </a:solidFill>
              </a:rPr>
              <a:t>6 views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48640" y="4114800"/>
            <a:ext cx="548640" cy="548640"/>
          </a:xfrm>
          <a:prstGeom prst="ellipse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207008" y="41148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33"/>
                </a:solidFill>
              </a:rPr>
              <a:t>start cluster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364992" y="4114800"/>
            <a:ext cx="548640" cy="548640"/>
          </a:xfrm>
          <a:prstGeom prst="ellipse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364992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023360" y="41148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33"/>
                </a:solidFill>
              </a:rPr>
              <a:t>upload to HDFS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81344" y="4114800"/>
            <a:ext cx="548640" cy="548640"/>
          </a:xfrm>
          <a:prstGeom prst="ellipse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181344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839712" y="41148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33"/>
                </a:solidFill>
              </a:rPr>
              <a:t>run MapReduce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997696" y="4114800"/>
            <a:ext cx="548640" cy="548640"/>
          </a:xfrm>
          <a:prstGeom prst="ellipse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997696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9656064" y="41148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33"/>
                </a:solidFill>
              </a:rPr>
              <a:t>run Spark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5029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76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run_all.sh</a:t>
            </a:r>
            <a:pPr indent="0" marL="0">
              <a:buNone/>
            </a:pPr>
            <a:r>
              <a:rPr lang="en-US" sz="1500" dirty="0">
                <a:solidFill>
                  <a:srgbClr val="6B7686"/>
                </a:solidFill>
              </a:rPr>
              <a:t> runs the four step scripts in order. Spark reads the CSV from the shared /data folder; MapReduce reads it from HDFS.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6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533"/>
                </a:solidFill>
              </a:rPr>
              <a:t>The dataset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533"/>
                </a:solidFill>
              </a:rPr>
              <a:t>Eleven OWID columns are used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423160" cy="438912"/>
          </a:xfrm>
          <a:prstGeom prst="roundRect">
            <a:avLst>
              <a:gd name="adj" fmla="val 16667"/>
            </a:avLst>
          </a:prstGeom>
          <a:solidFill>
            <a:srgbClr val="F4F6F9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5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iso_code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154680" y="1783080"/>
            <a:ext cx="2423160" cy="438912"/>
          </a:xfrm>
          <a:prstGeom prst="roundRect">
            <a:avLst>
              <a:gd name="adj" fmla="val 16667"/>
            </a:avLst>
          </a:prstGeom>
          <a:solidFill>
            <a:srgbClr val="F4F6F9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154680" y="1783080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5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350008"/>
            <a:ext cx="2423160" cy="438912"/>
          </a:xfrm>
          <a:prstGeom prst="roundRect">
            <a:avLst>
              <a:gd name="adj" fmla="val 16667"/>
            </a:avLst>
          </a:prstGeom>
          <a:solidFill>
            <a:srgbClr val="F4F6F9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350008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5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154680" y="2350008"/>
            <a:ext cx="2423160" cy="438912"/>
          </a:xfrm>
          <a:prstGeom prst="roundRect">
            <a:avLst>
              <a:gd name="adj" fmla="val 16667"/>
            </a:avLst>
          </a:prstGeom>
          <a:solidFill>
            <a:srgbClr val="F4F6F9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154680" y="2350008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5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916936"/>
            <a:ext cx="2423160" cy="438912"/>
          </a:xfrm>
          <a:prstGeom prst="roundRect">
            <a:avLst>
              <a:gd name="adj" fmla="val 16667"/>
            </a:avLst>
          </a:prstGeom>
          <a:solidFill>
            <a:srgbClr val="F4F6F9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2916936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5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new_cases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154680" y="2916936"/>
            <a:ext cx="2423160" cy="438912"/>
          </a:xfrm>
          <a:prstGeom prst="roundRect">
            <a:avLst>
              <a:gd name="adj" fmla="val 16667"/>
            </a:avLst>
          </a:prstGeom>
          <a:solidFill>
            <a:srgbClr val="F4F6F9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154680" y="2916936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5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new_deaths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483864"/>
            <a:ext cx="2423160" cy="438912"/>
          </a:xfrm>
          <a:prstGeom prst="roundRect">
            <a:avLst>
              <a:gd name="adj" fmla="val 16667"/>
            </a:avLst>
          </a:prstGeom>
          <a:solidFill>
            <a:srgbClr val="F4F6F9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483864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5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total_cases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154680" y="3483864"/>
            <a:ext cx="2423160" cy="438912"/>
          </a:xfrm>
          <a:prstGeom prst="roundRect">
            <a:avLst>
              <a:gd name="adj" fmla="val 16667"/>
            </a:avLst>
          </a:prstGeom>
          <a:solidFill>
            <a:srgbClr val="F4F6F9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154680" y="3483864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5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total_deaths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050792"/>
            <a:ext cx="2423160" cy="438912"/>
          </a:xfrm>
          <a:prstGeom prst="roundRect">
            <a:avLst>
              <a:gd name="adj" fmla="val 16667"/>
            </a:avLst>
          </a:prstGeom>
          <a:solidFill>
            <a:srgbClr val="F4F6F9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4050792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5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people_vaccinated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154680" y="4050792"/>
            <a:ext cx="2423160" cy="438912"/>
          </a:xfrm>
          <a:prstGeom prst="roundRect">
            <a:avLst>
              <a:gd name="adj" fmla="val 16667"/>
            </a:avLst>
          </a:prstGeom>
          <a:solidFill>
            <a:srgbClr val="F4F6F9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154680" y="4050792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5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total_vaccinations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4617720"/>
            <a:ext cx="2423160" cy="438912"/>
          </a:xfrm>
          <a:prstGeom prst="roundRect">
            <a:avLst>
              <a:gd name="adj" fmla="val 16667"/>
            </a:avLst>
          </a:prstGeom>
          <a:solidFill>
            <a:srgbClr val="F4F6F9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4617720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5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population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525780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686"/>
                </a:solidFill>
              </a:rPr>
              <a:t>Sample generator: fixed seed 42, 60-day sine waves, ±30% daily noise, deaths at 0.5–2.5% of cases, vaccinations from day 300.</a:t>
            </a:r>
            <a:endParaRPr lang="en-US" sz="1400" dirty="0"/>
          </a:p>
        </p:txBody>
      </p:sp>
      <p:graphicFrame>
        <p:nvGraphicFramePr>
          <p:cNvPr id="27" name="Chart 0" descr=""/>
          <p:cNvGraphicFramePr/>
          <p:nvPr/>
        </p:nvGraphicFramePr>
        <p:xfrm>
          <a:off x="6035040" y="1234440"/>
          <a:ext cx="55778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8" name="Text 25"/>
          <p:cNvSpPr txBox="1"/>
          <p:nvPr/>
        </p:nvSpPr>
        <p:spPr>
          <a:xfrm>
            <a:off x="6035040" y="548640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686"/>
                </a:solidFill>
              </a:rPr>
              <a:t>Four waves, one per year: the shape the analysis should recover.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6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533"/>
                </a:solidFill>
              </a:rPr>
              <a:t>MapReduce: totals per country</a:t>
            </a:r>
            <a:endParaRPr lang="en-US" sz="3200" dirty="0"/>
          </a:p>
        </p:txBody>
      </p:sp>
      <p:sp>
        <p:nvSpPr>
          <p:cNvPr id="3" name="box20"/>
          <p:cNvSpPr/>
          <p:nvPr/>
        </p:nvSpPr>
        <p:spPr>
          <a:xfrm>
            <a:off x="548640" y="2377440"/>
            <a:ext cx="1737360" cy="1188720"/>
          </a:xfrm>
          <a:prstGeom prst="roundRect">
            <a:avLst>
              <a:gd name="adj" fmla="val 6154"/>
            </a:avLst>
          </a:prstGeom>
          <a:solidFill>
            <a:srgbClr val="E6ECF3"/>
          </a:solidFill>
          <a:ln w="15875">
            <a:solidFill>
              <a:srgbClr val="12355B"/>
            </a:solidFill>
            <a:prstDash val="solid"/>
          </a:ln>
          <a:effectLst>
            <a:outerShdw sx="100000" sy="100000" kx="0" ky="0" algn="bl" rotWithShape="0" blurRad="50800" dist="19050" dir="5400000">
              <a:srgbClr val="1B2533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48640" y="2377440"/>
            <a:ext cx="173736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B2533"/>
                </a:solidFill>
              </a:rPr>
              <a:t>HDFS input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B7686"/>
                </a:solidFill>
              </a:rPr>
              <a:t>owid-covid-data.csv</a:t>
            </a:r>
            <a:endParaRPr lang="en-US" sz="1500" dirty="0"/>
          </a:p>
        </p:txBody>
      </p:sp>
      <p:sp>
        <p:nvSpPr>
          <p:cNvPr id="5" name="box21"/>
          <p:cNvSpPr/>
          <p:nvPr/>
        </p:nvSpPr>
        <p:spPr>
          <a:xfrm>
            <a:off x="2743200" y="1417320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FBF1E2"/>
          </a:solidFill>
          <a:ln w="15875">
            <a:solidFill>
              <a:srgbClr val="E09F3E"/>
            </a:solidFill>
            <a:prstDash val="solid"/>
          </a:ln>
          <a:effectLst>
            <a:outerShdw sx="100000" sy="100000" kx="0" ky="0" algn="bl" rotWithShape="0" blurRad="50800" dist="19050" dir="5400000">
              <a:srgbClr val="1B2533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2743200" y="1417320"/>
            <a:ext cx="1828800" cy="960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B2533"/>
                </a:solidFill>
              </a:rPr>
              <a:t>split 0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B7686"/>
                </a:solidFill>
              </a:rPr>
              <a:t>has the header</a:t>
            </a:r>
            <a:endParaRPr lang="en-US" sz="1500" dirty="0"/>
          </a:p>
        </p:txBody>
      </p:sp>
      <p:sp>
        <p:nvSpPr>
          <p:cNvPr id="7" name="box22"/>
          <p:cNvSpPr/>
          <p:nvPr/>
        </p:nvSpPr>
        <p:spPr>
          <a:xfrm>
            <a:off x="2743200" y="3566160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FBF1E2"/>
          </a:solidFill>
          <a:ln w="15875">
            <a:solidFill>
              <a:srgbClr val="E09F3E"/>
            </a:solidFill>
            <a:prstDash val="solid"/>
          </a:ln>
          <a:effectLst>
            <a:outerShdw sx="100000" sy="100000" kx="0" ky="0" algn="bl" rotWithShape="0" blurRad="50800" dist="19050" dir="5400000">
              <a:srgbClr val="1B2533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743200" y="3566160"/>
            <a:ext cx="1828800" cy="960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B2533"/>
                </a:solidFill>
              </a:rPr>
              <a:t>split 1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B7686"/>
                </a:solidFill>
              </a:rPr>
              <a:t>no header</a:t>
            </a:r>
            <a:endParaRPr lang="en-US" sz="1500" dirty="0"/>
          </a:p>
        </p:txBody>
      </p:sp>
      <p:sp>
        <p:nvSpPr>
          <p:cNvPr id="9" name="box23"/>
          <p:cNvSpPr/>
          <p:nvPr/>
        </p:nvSpPr>
        <p:spPr>
          <a:xfrm>
            <a:off x="5029200" y="1417320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875">
            <a:solidFill>
              <a:srgbClr val="E09F3E"/>
            </a:solidFill>
            <a:prstDash val="solid"/>
          </a:ln>
          <a:effectLst>
            <a:outerShdw sx="100000" sy="100000" kx="0" ky="0" algn="bl" rotWithShape="0" blurRad="50800" dist="19050" dir="5400000">
              <a:srgbClr val="1B2533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5029200" y="1417320"/>
            <a:ext cx="1828800" cy="960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B2533"/>
                </a:solidFill>
              </a:rPr>
              <a:t>mapper.py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B7686"/>
                </a:solidFill>
              </a:rPr>
              <a:t>emits key + values</a:t>
            </a:r>
            <a:endParaRPr lang="en-US" sz="1500" dirty="0"/>
          </a:p>
        </p:txBody>
      </p:sp>
      <p:sp>
        <p:nvSpPr>
          <p:cNvPr id="11" name="box24"/>
          <p:cNvSpPr/>
          <p:nvPr/>
        </p:nvSpPr>
        <p:spPr>
          <a:xfrm>
            <a:off x="5029200" y="3566160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875">
            <a:solidFill>
              <a:srgbClr val="E09F3E"/>
            </a:solidFill>
            <a:prstDash val="solid"/>
          </a:ln>
          <a:effectLst>
            <a:outerShdw sx="100000" sy="100000" kx="0" ky="0" algn="bl" rotWithShape="0" blurRad="50800" dist="19050" dir="5400000">
              <a:srgbClr val="1B2533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5029200" y="3566160"/>
            <a:ext cx="1828800" cy="960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B2533"/>
                </a:solidFill>
              </a:rPr>
              <a:t>mapper.py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B7686"/>
                </a:solidFill>
              </a:rPr>
              <a:t>emits key + values</a:t>
            </a:r>
            <a:endParaRPr lang="en-US" sz="1500" dirty="0"/>
          </a:p>
        </p:txBody>
      </p:sp>
      <p:sp>
        <p:nvSpPr>
          <p:cNvPr id="13" name="box25"/>
          <p:cNvSpPr/>
          <p:nvPr/>
        </p:nvSpPr>
        <p:spPr>
          <a:xfrm>
            <a:off x="7315200" y="2377440"/>
            <a:ext cx="1828800" cy="1188720"/>
          </a:xfrm>
          <a:prstGeom prst="roundRect">
            <a:avLst>
              <a:gd name="adj" fmla="val 6154"/>
            </a:avLst>
          </a:prstGeom>
          <a:solidFill>
            <a:srgbClr val="EEF1F5"/>
          </a:solidFill>
          <a:ln w="15875">
            <a:solidFill>
              <a:srgbClr val="6B7686"/>
            </a:solidFill>
            <a:prstDash val="solid"/>
          </a:ln>
          <a:effectLst>
            <a:outerShdw sx="100000" sy="100000" kx="0" ky="0" algn="bl" rotWithShape="0" blurRad="50800" dist="19050" dir="5400000">
              <a:srgbClr val="1B2533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315200" y="2377440"/>
            <a:ext cx="18288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B2533"/>
                </a:solidFill>
              </a:rPr>
              <a:t>shuffle + sort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B7686"/>
                </a:solidFill>
              </a:rPr>
              <a:t>grouped by country</a:t>
            </a:r>
            <a:endParaRPr lang="en-US" sz="1500" dirty="0"/>
          </a:p>
        </p:txBody>
      </p:sp>
      <p:sp>
        <p:nvSpPr>
          <p:cNvPr id="15" name="box26"/>
          <p:cNvSpPr/>
          <p:nvPr/>
        </p:nvSpPr>
        <p:spPr>
          <a:xfrm>
            <a:off x="9601200" y="237744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875">
            <a:solidFill>
              <a:srgbClr val="E09F3E"/>
            </a:solidFill>
            <a:prstDash val="solid"/>
          </a:ln>
          <a:effectLst>
            <a:outerShdw sx="100000" sy="100000" kx="0" ky="0" algn="bl" rotWithShape="0" blurRad="50800" dist="19050" dir="5400000">
              <a:srgbClr val="1B2533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601200" y="2377440"/>
            <a:ext cx="201168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B2533"/>
                </a:solidFill>
              </a:rPr>
              <a:t>reducer.py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B7686"/>
                </a:solidFill>
              </a:rPr>
              <a:t>sums cases, deaths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 flipV="1">
            <a:off x="2286000" y="1920240"/>
            <a:ext cx="457200" cy="777240"/>
          </a:xfrm>
          <a:prstGeom prst="line">
            <a:avLst/>
          </a:prstGeom>
          <a:noFill/>
          <a:ln w="19050">
            <a:solidFill>
              <a:srgbClr val="6B7686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286000" y="3246120"/>
            <a:ext cx="457200" cy="777240"/>
          </a:xfrm>
          <a:prstGeom prst="line">
            <a:avLst/>
          </a:prstGeom>
          <a:noFill/>
          <a:ln w="19050">
            <a:solidFill>
              <a:srgbClr val="6B7686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572000" y="1892808"/>
            <a:ext cx="457200" cy="914"/>
          </a:xfrm>
          <a:prstGeom prst="line">
            <a:avLst/>
          </a:prstGeom>
          <a:noFill/>
          <a:ln w="19050">
            <a:solidFill>
              <a:srgbClr val="6B7686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572000" y="4041648"/>
            <a:ext cx="457200" cy="914"/>
          </a:xfrm>
          <a:prstGeom prst="line">
            <a:avLst/>
          </a:prstGeom>
          <a:noFill/>
          <a:ln w="19050">
            <a:solidFill>
              <a:srgbClr val="6B7686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858000" y="2011680"/>
            <a:ext cx="457200" cy="685800"/>
          </a:xfrm>
          <a:prstGeom prst="line">
            <a:avLst/>
          </a:prstGeom>
          <a:noFill/>
          <a:ln w="19050">
            <a:solidFill>
              <a:srgbClr val="6B7686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 flipV="1">
            <a:off x="6858000" y="3246120"/>
            <a:ext cx="457200" cy="685800"/>
          </a:xfrm>
          <a:prstGeom prst="line">
            <a:avLst/>
          </a:prstGeom>
          <a:noFill/>
          <a:ln w="19050">
            <a:solidFill>
              <a:srgbClr val="6B7686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144000" y="2971800"/>
            <a:ext cx="457200" cy="914"/>
          </a:xfrm>
          <a:prstGeom prst="line">
            <a:avLst/>
          </a:prstGeom>
          <a:noFill/>
          <a:ln w="19050">
            <a:solidFill>
              <a:srgbClr val="6B7686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48640" y="498348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4983480"/>
            <a:ext cx="10607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55B"/>
                </a:solidFill>
              </a:rPr>
              <a:t>Header fix  </a:t>
            </a:r>
            <a:pPr indent="0" marL="0">
              <a:buNone/>
            </a:pPr>
            <a:r>
              <a:rPr lang="en-US" sz="1500" dirty="0">
                <a:solidFill>
                  <a:srgbClr val="1B2533"/>
                </a:solidFill>
              </a:rPr>
              <a:t>Only the first split starts with the CSV header. The run script reads it once and passes it to every mapper with </a:t>
            </a:r>
            <a:pPr indent="0" marL="0">
              <a:buNone/>
            </a:pPr>
            <a:r>
              <a:rPr lang="en-US" sz="1500" dirty="0">
                <a:solidFill>
                  <a:srgbClr val="1B25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-cmdenv COVID_HEADER</a:t>
            </a:r>
            <a:pPr indent="0" marL="0">
              <a:buNone/>
            </a:pPr>
            <a:r>
              <a:rPr lang="en-US" sz="1500" dirty="0">
                <a:solidFill>
                  <a:srgbClr val="1B2533"/>
                </a:solidFill>
              </a:rPr>
              <a:t>, so all splits parse the same columns.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6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533"/>
                </a:solidFill>
              </a:rPr>
              <a:t>Spark: one cached DataFrame, five jobs</a:t>
            </a:r>
            <a:endParaRPr lang="en-US" sz="3200" dirty="0"/>
          </a:p>
        </p:txBody>
      </p:sp>
      <p:sp>
        <p:nvSpPr>
          <p:cNvPr id="3" name="box27"/>
          <p:cNvSpPr/>
          <p:nvPr/>
        </p:nvSpPr>
        <p:spPr>
          <a:xfrm>
            <a:off x="548640" y="2788920"/>
            <a:ext cx="1737360" cy="1097280"/>
          </a:xfrm>
          <a:prstGeom prst="roundRect">
            <a:avLst>
              <a:gd name="adj" fmla="val 6667"/>
            </a:avLst>
          </a:prstGeom>
          <a:solidFill>
            <a:srgbClr val="FBE8EA"/>
          </a:solidFill>
          <a:ln w="15875">
            <a:solidFill>
              <a:srgbClr val="D1495B"/>
            </a:solidFill>
            <a:prstDash val="solid"/>
          </a:ln>
          <a:effectLst>
            <a:outerShdw sx="100000" sy="100000" kx="0" ky="0" algn="bl" rotWithShape="0" blurRad="50800" dist="19050" dir="5400000">
              <a:srgbClr val="1B2533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48640" y="2788920"/>
            <a:ext cx="173736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B2533"/>
                </a:solidFill>
              </a:rPr>
              <a:t>Read CSV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B7686"/>
                </a:solidFill>
              </a:rPr>
              <a:t>header, inferSchema</a:t>
            </a:r>
            <a:endParaRPr lang="en-US" sz="1500" dirty="0"/>
          </a:p>
        </p:txBody>
      </p:sp>
      <p:sp>
        <p:nvSpPr>
          <p:cNvPr id="5" name="box28"/>
          <p:cNvSpPr/>
          <p:nvPr/>
        </p:nvSpPr>
        <p:spPr>
          <a:xfrm>
            <a:off x="2606040" y="278892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FBE8EA"/>
          </a:solidFill>
          <a:ln w="15875">
            <a:solidFill>
              <a:srgbClr val="D1495B"/>
            </a:solidFill>
            <a:prstDash val="solid"/>
          </a:ln>
          <a:effectLst>
            <a:outerShdw sx="100000" sy="100000" kx="0" ky="0" algn="bl" rotWithShape="0" blurRad="50800" dist="19050" dir="5400000">
              <a:srgbClr val="1B2533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2606040" y="2788920"/>
            <a:ext cx="19202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B2533"/>
                </a:solidFill>
              </a:rPr>
              <a:t>Clean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B7686"/>
                </a:solidFill>
              </a:rPr>
              <a:t>cast · fill 0 · drop OWID_</a:t>
            </a:r>
            <a:endParaRPr lang="en-US" sz="1500" dirty="0"/>
          </a:p>
        </p:txBody>
      </p:sp>
      <p:sp>
        <p:nvSpPr>
          <p:cNvPr id="7" name="box29"/>
          <p:cNvSpPr/>
          <p:nvPr/>
        </p:nvSpPr>
        <p:spPr>
          <a:xfrm>
            <a:off x="4846320" y="2788920"/>
            <a:ext cx="1463040" cy="1097280"/>
          </a:xfrm>
          <a:prstGeom prst="roundRect">
            <a:avLst>
              <a:gd name="adj" fmla="val 6667"/>
            </a:avLst>
          </a:prstGeom>
          <a:solidFill>
            <a:srgbClr val="FBE8EA"/>
          </a:solidFill>
          <a:ln w="15875">
            <a:solidFill>
              <a:srgbClr val="D1495B"/>
            </a:solidFill>
            <a:prstDash val="solid"/>
          </a:ln>
          <a:effectLst>
            <a:outerShdw sx="100000" sy="100000" kx="0" ky="0" algn="bl" rotWithShape="0" blurRad="50800" dist="19050" dir="5400000">
              <a:srgbClr val="1B2533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846320" y="2788920"/>
            <a:ext cx="14630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B2533"/>
                </a:solidFill>
              </a:rPr>
              <a:t>cache()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B7686"/>
                </a:solidFill>
              </a:rPr>
              <a:t>reused 5×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286000" y="3337560"/>
            <a:ext cx="320040" cy="914"/>
          </a:xfrm>
          <a:prstGeom prst="line">
            <a:avLst/>
          </a:prstGeom>
          <a:noFill/>
          <a:ln w="19050">
            <a:solidFill>
              <a:srgbClr val="6B7686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526280" y="3337560"/>
            <a:ext cx="320040" cy="914"/>
          </a:xfrm>
          <a:prstGeom prst="line">
            <a:avLst/>
          </a:prstGeom>
          <a:noFill/>
          <a:ln w="19050">
            <a:solidFill>
              <a:srgbClr val="6B7686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949440" y="1234440"/>
            <a:ext cx="46634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D1495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86600" y="1389888"/>
            <a:ext cx="493776" cy="493776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086600" y="138988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726680" y="1234440"/>
            <a:ext cx="3794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3"/>
                </a:solidFill>
              </a:rPr>
              <a:t>Top 10 countries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6B7686"/>
                </a:solidFill>
              </a:rPr>
              <a:t>max(total_cases)  →  top10_countries.json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 flipV="1">
            <a:off x="6309360" y="1636776"/>
            <a:ext cx="640080" cy="1700784"/>
          </a:xfrm>
          <a:prstGeom prst="line">
            <a:avLst/>
          </a:prstGeom>
          <a:noFill/>
          <a:ln w="19050">
            <a:solidFill>
              <a:srgbClr val="B8C0C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949440" y="2212848"/>
            <a:ext cx="46634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D1495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86600" y="2368296"/>
            <a:ext cx="493776" cy="493776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086600" y="236829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726680" y="2212848"/>
            <a:ext cx="3794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3"/>
                </a:solidFill>
              </a:rPr>
              <a:t>Continent totals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6B7686"/>
                </a:solidFill>
              </a:rPr>
              <a:t>sum(new_cases)  →  continent_totals.json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 flipV="1">
            <a:off x="6309360" y="2615184"/>
            <a:ext cx="640080" cy="722376"/>
          </a:xfrm>
          <a:prstGeom prst="line">
            <a:avLst/>
          </a:prstGeom>
          <a:noFill/>
          <a:ln w="19050">
            <a:solidFill>
              <a:srgbClr val="B8C0C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949440" y="3191256"/>
            <a:ext cx="46634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D1495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086600" y="3346704"/>
            <a:ext cx="493776" cy="493776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086600" y="334670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726680" y="3191256"/>
            <a:ext cx="3794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3"/>
                </a:solidFill>
              </a:rPr>
              <a:t>Global wave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6B7686"/>
                </a:solidFill>
              </a:rPr>
              <a:t>Window rowsBetween(-3, 3)  →  global_wave.json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309360" y="3337560"/>
            <a:ext cx="640080" cy="256032"/>
          </a:xfrm>
          <a:prstGeom prst="line">
            <a:avLst/>
          </a:prstGeom>
          <a:noFill/>
          <a:ln w="19050">
            <a:solidFill>
              <a:srgbClr val="B8C0CA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949440" y="4169664"/>
            <a:ext cx="46634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D1495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086600" y="4325112"/>
            <a:ext cx="493776" cy="493776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086600" y="432511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726680" y="4169664"/>
            <a:ext cx="3794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3"/>
                </a:solidFill>
              </a:rPr>
              <a:t>Case-fatality rate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6B7686"/>
                </a:solidFill>
              </a:rPr>
              <a:t>deaths ÷ cases × 100  →  cfr_by_country.json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309360" y="3337560"/>
            <a:ext cx="640080" cy="1234440"/>
          </a:xfrm>
          <a:prstGeom prst="line">
            <a:avLst/>
          </a:prstGeom>
          <a:noFill/>
          <a:ln w="19050">
            <a:solidFill>
              <a:srgbClr val="B8C0CA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949440" y="5148072"/>
            <a:ext cx="46634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D1495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086600" y="5303520"/>
            <a:ext cx="493776" cy="493776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086600" y="530352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7726680" y="5148072"/>
            <a:ext cx="3794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3"/>
                </a:solidFill>
              </a:rPr>
              <a:t>Vaccination share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6B7686"/>
                </a:solidFill>
              </a:rPr>
              <a:t>vaccinated ÷ population  →  vaccination_progress.json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309360" y="3337560"/>
            <a:ext cx="640080" cy="2212848"/>
          </a:xfrm>
          <a:prstGeom prst="line">
            <a:avLst/>
          </a:prstGeom>
          <a:noFill/>
          <a:ln w="19050">
            <a:solidFill>
              <a:srgbClr val="B8C0CA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6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533"/>
                </a:solidFill>
              </a:rPr>
              <a:t>The dashboard</a:t>
            </a:r>
            <a:endParaRPr lang="en-US" sz="3200" dirty="0"/>
          </a:p>
        </p:txBody>
      </p:sp>
      <p:pic>
        <p:nvPicPr>
          <p:cNvPr id="3" name="Image 0" descr="Overview view of the CoviSpark dash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97280"/>
            <a:ext cx="6903720" cy="521988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680960" y="1188720"/>
            <a:ext cx="3931920" cy="685800"/>
          </a:xfrm>
          <a:prstGeom prst="roundRect">
            <a:avLst>
              <a:gd name="adj" fmla="val 10667"/>
            </a:avLst>
          </a:prstGeom>
          <a:solidFill>
            <a:srgbClr val="E6ECF3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863840" y="11887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3"/>
                </a:solidFill>
              </a:rPr>
              <a:t>Overview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6B7686"/>
                </a:solidFill>
              </a:rPr>
              <a:t>KPIs, wave, top 10, continents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680960" y="2011680"/>
            <a:ext cx="3931920" cy="685800"/>
          </a:xfrm>
          <a:prstGeom prst="roundRect">
            <a:avLst>
              <a:gd name="adj" fmla="val 10667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863840" y="20116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3"/>
                </a:solidFill>
              </a:rPr>
              <a:t>Countries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6B7686"/>
                </a:solidFill>
              </a:rPr>
              <a:t>search, filter, sort all 25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680960" y="2834640"/>
            <a:ext cx="3931920" cy="685800"/>
          </a:xfrm>
          <a:prstGeom prst="roundRect">
            <a:avLst>
              <a:gd name="adj" fmla="val 10667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863840" y="28346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3"/>
                </a:solidFill>
              </a:rPr>
              <a:t>Infection wave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6B7686"/>
                </a:solidFill>
              </a:rPr>
              <a:t>daily series, year filters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680960" y="3657600"/>
            <a:ext cx="3931920" cy="685800"/>
          </a:xfrm>
          <a:prstGeom prst="roundRect">
            <a:avLst>
              <a:gd name="adj" fmla="val 10667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863840" y="36576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3"/>
                </a:solidFill>
              </a:rPr>
              <a:t>Case fatality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6B7686"/>
                </a:solidFill>
              </a:rPr>
              <a:t>top 15 vs global rate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7680960" y="4480560"/>
            <a:ext cx="3931920" cy="685800"/>
          </a:xfrm>
          <a:prstGeom prst="roundRect">
            <a:avLst>
              <a:gd name="adj" fmla="val 10667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863840" y="44805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3"/>
                </a:solidFill>
              </a:rPr>
              <a:t>Vaccination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6B7686"/>
                </a:solidFill>
              </a:rPr>
              <a:t>top 15 shares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7680960" y="5303520"/>
            <a:ext cx="3931920" cy="685800"/>
          </a:xfrm>
          <a:prstGeom prst="roundRect">
            <a:avLst>
              <a:gd name="adj" fmla="val 10667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863840" y="53035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3"/>
                </a:solidFill>
              </a:rPr>
              <a:t>Pipeline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6B7686"/>
                </a:solidFill>
              </a:rPr>
              <a:t>output status, cluster UIs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6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533"/>
                </a:solidFill>
              </a:rPr>
              <a:t>Four more views</a:t>
            </a:r>
            <a:endParaRPr lang="en-US" sz="3200" dirty="0"/>
          </a:p>
        </p:txBody>
      </p:sp>
      <p:pic>
        <p:nvPicPr>
          <p:cNvPr id="3" name="Image 0" descr="Countries, Infection wave, Case fatality and Pipeline view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3810" y="1097280"/>
            <a:ext cx="8961331" cy="5257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6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533"/>
                </a:solidFill>
              </a:rPr>
              <a:t>Running it end to end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68680" y="1600200"/>
            <a:ext cx="0" cy="3383280"/>
          </a:xfrm>
          <a:prstGeom prst="line">
            <a:avLst/>
          </a:prstGeom>
          <a:noFill/>
          <a:ln w="25400">
            <a:solidFill>
              <a:srgbClr val="C9D1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325880"/>
            <a:ext cx="548640" cy="548640"/>
          </a:xfrm>
          <a:prstGeom prst="ellipse">
            <a:avLst/>
          </a:prstGeom>
          <a:solidFill>
            <a:srgbClr val="12355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23444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01_start_cluster.sh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6B7686"/>
                </a:solidFill>
              </a:rPr>
              <a:t>docker-compose up -d · wait for HDFS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2423160"/>
            <a:ext cx="548640" cy="548640"/>
          </a:xfrm>
          <a:prstGeom prst="ellipse">
            <a:avLst/>
          </a:prstGeom>
          <a:solidFill>
            <a:srgbClr val="12355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33172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02_upload_data.sh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6B7686"/>
                </a:solidFill>
              </a:rPr>
              <a:t>generate CSV if missing · hdfs dfs -put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3520440"/>
            <a:ext cx="548640" cy="548640"/>
          </a:xfrm>
          <a:prstGeom prst="ellipse">
            <a:avLst/>
          </a:prstGeom>
          <a:solidFill>
            <a:srgbClr val="12355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3520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42900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03_run_mapreduce.sh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6B7686"/>
                </a:solidFill>
              </a:rPr>
              <a:t>streaming job on YARN · export CSV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94360" y="4617720"/>
            <a:ext cx="548640" cy="548640"/>
          </a:xfrm>
          <a:prstGeom prst="ellipse">
            <a:avLst/>
          </a:prstGeom>
          <a:solidFill>
            <a:srgbClr val="12355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4617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452628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04_run_spark.sh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6B7686"/>
                </a:solidFill>
              </a:rPr>
              <a:t>spark-submit to spark-master:7077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858000" y="1325880"/>
            <a:ext cx="4754880" cy="1691640"/>
          </a:xfrm>
          <a:prstGeom prst="roundRect">
            <a:avLst>
              <a:gd name="adj" fmla="val 5405"/>
            </a:avLst>
          </a:prstGeom>
          <a:solidFill>
            <a:srgbClr val="E6ECF3"/>
          </a:solidFill>
          <a:ln w="15875">
            <a:solidFill>
              <a:srgbClr val="12355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086600" y="14630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533"/>
                </a:solidFill>
              </a:rPr>
              <a:t>Cluster mode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086600" y="19202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35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 run_all.sh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086600" y="23317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686"/>
                </a:solidFill>
              </a:rPr>
              <a:t>HDFS, YARN and Spark in 10 containers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858000" y="3291840"/>
            <a:ext cx="4754880" cy="1691640"/>
          </a:xfrm>
          <a:prstGeom prst="roundRect">
            <a:avLst>
              <a:gd name="adj" fmla="val 5405"/>
            </a:avLst>
          </a:prstGeom>
          <a:solidFill>
            <a:srgbClr val="E3F4F1"/>
          </a:solidFill>
          <a:ln w="15875">
            <a:solidFill>
              <a:srgbClr val="1B998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086600" y="342900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533"/>
                </a:solidFill>
              </a:rPr>
              <a:t>Local mode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38862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99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 scripts/05_run_local.sh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086600" y="42976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686"/>
                </a:solidFill>
              </a:rPr>
              <a:t>Same jobs on the host; MapReduce as mapper | sort | reducer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6692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686"/>
                </a:solidFill>
              </a:rPr>
              <a:t>Then open http://localhost:5000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6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533"/>
                </a:solidFill>
              </a:rPr>
              <a:t>What the pipeline found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355B"/>
                </a:solidFill>
              </a:rPr>
              <a:t>2.20B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86"/>
                </a:solidFill>
              </a:rPr>
              <a:t>cases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364992" y="114300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1495B"/>
                </a:solidFill>
              </a:rPr>
              <a:t>34.1M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3364992" y="1783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86"/>
                </a:solidFill>
              </a:rPr>
              <a:t>deaths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181344" y="114300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355B"/>
                </a:solidFill>
              </a:rPr>
              <a:t>1.55%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6181344" y="1783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86"/>
                </a:solidFill>
              </a:rPr>
              <a:t>global CFR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997696" y="114300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355B"/>
                </a:solidFill>
              </a:rPr>
              <a:t>2.5M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8997696" y="1783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86"/>
                </a:solidFill>
              </a:rPr>
              <a:t>peak 7-day avg</a:t>
            </a:r>
            <a:endParaRPr lang="en-US" sz="14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548640" y="2331720"/>
          <a:ext cx="6035040" cy="3886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2" name="Chart 1" descr=""/>
          <p:cNvGraphicFramePr/>
          <p:nvPr/>
        </p:nvGraphicFramePr>
        <p:xfrm>
          <a:off x="6858000" y="2331720"/>
          <a:ext cx="4754880" cy="3886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6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533"/>
                </a:solidFill>
              </a:rPr>
              <a:t>Four waves, recovered by Spark Job 3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11480" y="1143000"/>
          <a:ext cx="8229600" cy="5029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8961120" y="1234440"/>
            <a:ext cx="2697480" cy="1417320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0" y="134416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6DB5"/>
                </a:solidFill>
              </a:rPr>
              <a:t>2.5M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9144000" y="194767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533"/>
                </a:solidFill>
              </a:rPr>
              <a:t>peak 7-day average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6B7686"/>
                </a:solidFill>
              </a:rPr>
              <a:t>2023-06-22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8961120" y="2880360"/>
            <a:ext cx="2697480" cy="1417320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144000" y="299008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55B"/>
                </a:solidFill>
              </a:rPr>
              <a:t>531K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9144000" y="359359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533"/>
                </a:solidFill>
              </a:rPr>
              <a:t>lowest 7-day average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6B7686"/>
                </a:solidFill>
              </a:rPr>
              <a:t>2021-12-09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961120" y="4526280"/>
            <a:ext cx="2697480" cy="1417320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144000" y="463600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55B"/>
                </a:solidFill>
              </a:rPr>
              <a:t>1.5M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9144000" y="523951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533"/>
                </a:solidFill>
              </a:rPr>
              <a:t>average daily cases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6B7686"/>
                </a:solidFill>
              </a:rPr>
              <a:t>1,440 days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6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533"/>
                </a:solidFill>
              </a:rPr>
              <a:t>How we know it works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5544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71600" y="128016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533"/>
                </a:solidFill>
              </a:rPr>
              <a:t>Spark jobs 1–5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6B7686"/>
                </a:solidFill>
              </a:rPr>
              <a:t>match an independent pandas recomputation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172200" y="1280160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368" y="1554480"/>
            <a:ext cx="457200" cy="4572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995160" y="128016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533"/>
                </a:solidFill>
              </a:rPr>
              <a:t>MapReduce on YARN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6B7686"/>
                </a:solidFill>
              </a:rPr>
              <a:t>identical to the local pipe output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548640" y="2468880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743200"/>
            <a:ext cx="457200" cy="4572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71600" y="246888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533"/>
                </a:solidFill>
              </a:rPr>
              <a:t>Split handling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6B7686"/>
                </a:solidFill>
              </a:rPr>
              <a:t>two halves of the file give the same totals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6172200" y="2468880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3368" y="2743200"/>
            <a:ext cx="457200" cy="45720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6995160" y="246888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533"/>
                </a:solidFill>
              </a:rPr>
              <a:t>MapReduce vs Spark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6B7686"/>
                </a:solidFill>
              </a:rPr>
              <a:t>sum of new cases = max of total cases</a:t>
            </a:r>
            <a:endParaRPr lang="en-US" sz="1600" dirty="0"/>
          </a:p>
        </p:txBody>
      </p:sp>
      <p:sp>
        <p:nvSpPr>
          <p:cNvPr id="15" name="Shape 9"/>
          <p:cNvSpPr/>
          <p:nvPr/>
        </p:nvSpPr>
        <p:spPr>
          <a:xfrm>
            <a:off x="548640" y="3657600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3931920"/>
            <a:ext cx="457200" cy="45720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371600" y="365760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533"/>
                </a:solidFill>
              </a:rPr>
              <a:t>HDFS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6B7686"/>
                </a:solidFill>
              </a:rPr>
              <a:t>2 live DataNodes, replication 2</a:t>
            </a:r>
            <a:endParaRPr lang="en-US" sz="1600" dirty="0"/>
          </a:p>
        </p:txBody>
      </p:sp>
      <p:sp>
        <p:nvSpPr>
          <p:cNvPr id="18" name="Shape 11"/>
          <p:cNvSpPr/>
          <p:nvPr/>
        </p:nvSpPr>
        <p:spPr>
          <a:xfrm>
            <a:off x="6172200" y="3657600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3368" y="3931920"/>
            <a:ext cx="457200" cy="457200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6995160" y="365760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533"/>
                </a:solidFill>
              </a:rPr>
              <a:t>YARN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6B7686"/>
                </a:solidFill>
              </a:rPr>
              <a:t>2 NodeManagers, 2 maps + 1 reduce</a:t>
            </a:r>
            <a:endParaRPr lang="en-US" sz="1600" dirty="0"/>
          </a:p>
        </p:txBody>
      </p:sp>
      <p:sp>
        <p:nvSpPr>
          <p:cNvPr id="21" name="Shape 13"/>
          <p:cNvSpPr/>
          <p:nvPr/>
        </p:nvSpPr>
        <p:spPr>
          <a:xfrm>
            <a:off x="548640" y="4846320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808" y="5120640"/>
            <a:ext cx="457200" cy="457200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1371600" y="484632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533"/>
                </a:solidFill>
              </a:rPr>
              <a:t>Spark cluster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6B7686"/>
                </a:solidFill>
              </a:rPr>
              <a:t>2 workers alive, app finished on 4 cores</a:t>
            </a:r>
            <a:endParaRPr lang="en-US" sz="1600" dirty="0"/>
          </a:p>
        </p:txBody>
      </p:sp>
      <p:sp>
        <p:nvSpPr>
          <p:cNvPr id="24" name="Shape 15"/>
          <p:cNvSpPr/>
          <p:nvPr/>
        </p:nvSpPr>
        <p:spPr>
          <a:xfrm>
            <a:off x="6172200" y="4846320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73368" y="5120640"/>
            <a:ext cx="457200" cy="457200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6995160" y="484632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533"/>
                </a:solidFill>
              </a:rPr>
              <a:t>Dashboard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6B7686"/>
                </a:solidFill>
              </a:rPr>
              <a:t>all routes 200, all views render, no JS errors</a:t>
            </a:r>
            <a:endParaRPr lang="en-US" sz="1600" dirty="0"/>
          </a:p>
        </p:txBody>
      </p:sp>
      <p:sp>
        <p:nvSpPr>
          <p:cNvPr id="27" name="Text 17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686"/>
                </a:solidFill>
              </a:rPr>
              <a:t>Final check: cluster torn down with its volumes and rebuilt from scratch with run_all.sh.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6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533"/>
                </a:solidFill>
              </a:rPr>
              <a:t>Limits and next steps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85800" cy="685800"/>
          </a:xfrm>
          <a:prstGeom prst="ellipse">
            <a:avLst/>
          </a:prstGeom>
          <a:solidFill>
            <a:srgbClr val="E6ECF3"/>
          </a:solidFill>
          <a:ln w="12700">
            <a:solidFill>
              <a:srgbClr val="E6ECF3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" y="1476756"/>
            <a:ext cx="384048" cy="3840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1488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533"/>
                </a:solidFill>
              </a:rPr>
              <a:t>Synthetic data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578608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7686"/>
                </a:solidFill>
              </a:rPr>
              <a:t>Swap in the real OWID file; the code needs no change.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297680" y="1325880"/>
            <a:ext cx="685800" cy="685800"/>
          </a:xfrm>
          <a:prstGeom prst="ellipse">
            <a:avLst/>
          </a:prstGeom>
          <a:solidFill>
            <a:srgbClr val="E6ECF3"/>
          </a:solidFill>
          <a:ln w="12700">
            <a:solidFill>
              <a:srgbClr val="E6ECF3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8556" y="1476756"/>
            <a:ext cx="384048" cy="38404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297680" y="21488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533"/>
                </a:solidFill>
              </a:rPr>
              <a:t>Spark reads a shared folder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4297680" y="2578608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7686"/>
                </a:solidFill>
              </a:rPr>
              <a:t>Point COVID_DATA at hdfs:// to use HDFS for Spark too.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8046720" y="1325880"/>
            <a:ext cx="685800" cy="685800"/>
          </a:xfrm>
          <a:prstGeom prst="ellipse">
            <a:avLst/>
          </a:prstGeom>
          <a:solidFill>
            <a:srgbClr val="E6ECF3"/>
          </a:solidFill>
          <a:ln w="12700">
            <a:solidFill>
              <a:srgbClr val="E6ECF3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7596" y="1476756"/>
            <a:ext cx="384048" cy="38404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046720" y="21488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533"/>
                </a:solidFill>
              </a:rPr>
              <a:t>Single-partition window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8046720" y="2578608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7686"/>
                </a:solidFill>
              </a:rPr>
              <a:t>Fine for 1,440 days; partition it for larger date ranges.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548640" y="3703320"/>
            <a:ext cx="685800" cy="685800"/>
          </a:xfrm>
          <a:prstGeom prst="ellipse">
            <a:avLst/>
          </a:prstGeom>
          <a:solidFill>
            <a:srgbClr val="E6ECF3"/>
          </a:solidFill>
          <a:ln w="12700">
            <a:solidFill>
              <a:srgbClr val="E6ECF3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" y="3854196"/>
            <a:ext cx="384048" cy="38404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48640" y="45262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533"/>
                </a:solidFill>
              </a:rPr>
              <a:t>Old base images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548640" y="4956048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7686"/>
                </a:solidFill>
              </a:rPr>
              <a:t>Hadoop images date from 2019; Spark comes from Bitnami's legacy archive.</a:t>
            </a:r>
            <a:endParaRPr lang="en-US" sz="1500" dirty="0"/>
          </a:p>
        </p:txBody>
      </p:sp>
      <p:sp>
        <p:nvSpPr>
          <p:cNvPr id="19" name="Shape 13"/>
          <p:cNvSpPr/>
          <p:nvPr/>
        </p:nvSpPr>
        <p:spPr>
          <a:xfrm>
            <a:off x="4297680" y="3703320"/>
            <a:ext cx="685800" cy="685800"/>
          </a:xfrm>
          <a:prstGeom prst="ellipse">
            <a:avLst/>
          </a:prstGeom>
          <a:solidFill>
            <a:srgbClr val="E6ECF3"/>
          </a:solidFill>
          <a:ln w="12700">
            <a:solidFill>
              <a:srgbClr val="E6ECF3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8556" y="3854196"/>
            <a:ext cx="384048" cy="384048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4297680" y="45262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533"/>
                </a:solidFill>
              </a:rPr>
              <a:t>One machine</a:t>
            </a:r>
            <a:endParaRPr lang="en-US" sz="1800" dirty="0"/>
          </a:p>
        </p:txBody>
      </p:sp>
      <p:sp>
        <p:nvSpPr>
          <p:cNvPr id="22" name="Text 15"/>
          <p:cNvSpPr txBox="1"/>
          <p:nvPr/>
        </p:nvSpPr>
        <p:spPr>
          <a:xfrm>
            <a:off x="4297680" y="4956048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7686"/>
                </a:solidFill>
              </a:rPr>
              <a:t>Run the same images on several hosts or Kubernetes for real scaling.</a:t>
            </a:r>
            <a:endParaRPr lang="en-US" sz="1500" dirty="0"/>
          </a:p>
        </p:txBody>
      </p:sp>
      <p:sp>
        <p:nvSpPr>
          <p:cNvPr id="23" name="Shape 16"/>
          <p:cNvSpPr/>
          <p:nvPr/>
        </p:nvSpPr>
        <p:spPr>
          <a:xfrm>
            <a:off x="8046720" y="3703320"/>
            <a:ext cx="685800" cy="685800"/>
          </a:xfrm>
          <a:prstGeom prst="ellipse">
            <a:avLst/>
          </a:prstGeom>
          <a:solidFill>
            <a:srgbClr val="E6ECF3"/>
          </a:solidFill>
          <a:ln w="12700">
            <a:solidFill>
              <a:srgbClr val="E6ECF3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7596" y="3854196"/>
            <a:ext cx="384048" cy="384048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8046720" y="45262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533"/>
                </a:solidFill>
              </a:rPr>
              <a:t>Read-only dashboard</a:t>
            </a:r>
            <a:endParaRPr lang="en-US" sz="1800" dirty="0"/>
          </a:p>
        </p:txBody>
      </p:sp>
      <p:sp>
        <p:nvSpPr>
          <p:cNvPr id="26" name="Text 18"/>
          <p:cNvSpPr txBox="1"/>
          <p:nvPr/>
        </p:nvSpPr>
        <p:spPr>
          <a:xfrm>
            <a:off x="8046720" y="4956048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7686"/>
                </a:solidFill>
              </a:rPr>
              <a:t>A button that submits the pipeline would make it a control panel.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6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Thank you</a:t>
            </a:r>
            <a:endParaRPr lang="en-US" sz="5400" dirty="0"/>
          </a:p>
        </p:txBody>
      </p:sp>
      <p:pic>
        <p:nvPicPr>
          <p:cNvPr id="3" name="Image 0" descr="Global 7-day average curv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499799"/>
            <a:ext cx="12188952" cy="235820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34290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Dashboard  localhost:5000   ·   HDFS  :9870   ·   YARN  :8088   ·   Spark  :8080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viSpark">
  <a:themeElements>
    <a:clrScheme name="CoviSpark">
      <a:dk1>
        <a:srgbClr val="1B2533"/>
      </a:dk1>
      <a:lt1>
        <a:srgbClr val="FFFFFF"/>
      </a:lt1>
      <a:dk2>
        <a:srgbClr val="12355B"/>
      </a:dk2>
      <a:lt2>
        <a:srgbClr val="F4F6F9"/>
      </a:lt2>
      <a:accent1>
        <a:srgbClr val="12355B"/>
      </a:accent1>
      <a:accent2>
        <a:srgbClr val="E09F3E"/>
      </a:accent2>
      <a:accent3>
        <a:srgbClr val="D1495B"/>
      </a:accent3>
      <a:accent4>
        <a:srgbClr val="1B998B"/>
      </a:accent4>
      <a:accent5>
        <a:srgbClr val="2F6DB5"/>
      </a:accent5>
      <a:accent6>
        <a:srgbClr val="6B7686"/>
      </a:accent6>
      <a:hlink>
        <a:srgbClr val="2F6DB5"/>
      </a:hlink>
      <a:folHlink>
        <a:srgbClr val="7A5EA8"/>
      </a:folHlink>
    </a:clrScheme>
    <a:fontScheme name="CoviSpark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CSBB 422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CoviSpark — Distributed COVID-19 Analysis</dc:title>
  <dc:subject>CSBB 422 Big Data Analytics</dc:subject>
  <dc:creator>CoviSpark project team</dc:creator>
  <cp:lastModifiedBy>CoviSpark project team</cp:lastModifiedBy>
  <cp:revision>1</cp:revision>
  <dcterms:created xsi:type="dcterms:W3CDTF">2026-10-31T08:40:49Z</dcterms:created>
  <dcterms:modified xsi:type="dcterms:W3CDTF">2026-10-31T08:40:49Z</dcterms:modified>
</cp:coreProperties>
</file>