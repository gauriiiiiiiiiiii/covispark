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3c8bccf-39aa-c73c-aad2-f460ee23edb8}">
          <p14:sldIdLst>
            <p14:sldId id="256"/>
            <p14:sldId id="257"/>
          </p14:sldIdLst>
        </p14:section>
        <p14:section name="Architecture" id="{cbd7be2d-095c-158c-9926-0233ba958774}">
          <p14:sldIdLst>
            <p14:sldId id="258"/>
            <p14:sldId id="259"/>
            <p14:sldId id="260"/>
          </p14:sldIdLst>
        </p14:section>
        <p14:section name="Implementation" id="{cbbb9471-b590-b0b3-de1a-d14027036fb6}">
          <p14:sldIdLst>
            <p14:sldId id="261"/>
            <p14:sldId id="262"/>
            <p14:sldId id="263"/>
            <p14:sldId id="264"/>
          </p14:sldIdLst>
        </p14:section>
        <p14:section name="Execution" id="{82a74f65-20b3-63f2-89f7-8dcf34100fc9}">
          <p14:sldIdLst>
            <p14:sldId id="265"/>
          </p14:sldIdLst>
        </p14:section>
        <p14:section name="Results" id="{2d56550b-0c26-9f96-18c9-bbe3d87b37d0}">
          <p14:sldIdLst>
            <p14:sldId id="266"/>
            <p14:sldId id="267"/>
          </p14:sldIdLst>
        </p14:section>
        <p14:section name="Wrap-up" id="{6f8f4d78-f14d-22d5-a918-3ed3b044e6ea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533"/>
                </a:solidFill>
                <a:latin typeface="+mn-lt"/>
              </a:rPr>
              <a:t>Generated global daily cases (7-day average)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7-day average</c:v>
                </c:pt>
              </c:strCache>
            </c:strRef>
          </c:tx>
          <c:spPr>
            <a:solidFill>
              <a:srgbClr val="2F6DB5"/>
            </a:solidFill>
            <a:ln w="25400" cap="flat">
              <a:solidFill>
                <a:srgbClr val="2F6D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6DB5"/>
              </a:solidFill>
              <a:ln w="9525" cap="flat">
                <a:solidFill>
                  <a:srgbClr val="2F6D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Sheet1!$A$2:$A$207</c:f>
              <c:multiLvlStrCache>
                <c:ptCount val="206"/>
                <c:lvl>
                  <c:pt idx="0">
                    <c:v>2020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>2021</c:v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>2022</c:v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>2023</c:v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</c:lvl>
              </c:multiLvlStrCache>
            </c:multiLvlStrRef>
          </c:cat>
          <c:val>
            <c:numRef>
              <c:f>Sheet1!$B$2:$B$207</c:f>
              <c:numCache>
                <c:formatCode>General</c:formatCode>
                <c:ptCount val="206"/>
                <c:pt idx="0">
                  <c:v>1266956</c:v>
                </c:pt>
                <c:pt idx="1">
                  <c:v>1265154.7</c:v>
                </c:pt>
                <c:pt idx="2">
                  <c:v>1401649.9</c:v>
                </c:pt>
                <c:pt idx="3">
                  <c:v>1492100.3</c:v>
                </c:pt>
                <c:pt idx="4">
                  <c:v>1628468.3</c:v>
                </c:pt>
                <c:pt idx="5">
                  <c:v>1779237</c:v>
                </c:pt>
                <c:pt idx="6">
                  <c:v>1816180.6</c:v>
                </c:pt>
                <c:pt idx="7">
                  <c:v>1922583.7</c:v>
                </c:pt>
                <c:pt idx="8">
                  <c:v>2035817</c:v>
                </c:pt>
                <c:pt idx="9">
                  <c:v>2192868.9</c:v>
                </c:pt>
                <c:pt idx="10">
                  <c:v>2232935.7</c:v>
                </c:pt>
                <c:pt idx="11">
                  <c:v>2246073.6</c:v>
                </c:pt>
                <c:pt idx="12">
                  <c:v>2298248</c:v>
                </c:pt>
                <c:pt idx="13">
                  <c:v>2339015.9</c:v>
                </c:pt>
                <c:pt idx="14">
                  <c:v>2338395.4</c:v>
                </c:pt>
                <c:pt idx="15">
                  <c:v>2413914</c:v>
                </c:pt>
                <c:pt idx="16">
                  <c:v>2383797.1</c:v>
                </c:pt>
                <c:pt idx="17">
                  <c:v>2345578.9</c:v>
                </c:pt>
                <c:pt idx="18">
                  <c:v>2426120.6</c:v>
                </c:pt>
                <c:pt idx="19">
                  <c:v>2352426.9</c:v>
                </c:pt>
                <c:pt idx="20">
                  <c:v>2280174.9</c:v>
                </c:pt>
                <c:pt idx="21">
                  <c:v>2366632.7</c:v>
                </c:pt>
                <c:pt idx="22">
                  <c:v>2199280.9</c:v>
                </c:pt>
                <c:pt idx="23">
                  <c:v>2198263.1</c:v>
                </c:pt>
                <c:pt idx="24">
                  <c:v>2078844.6</c:v>
                </c:pt>
                <c:pt idx="25">
                  <c:v>2014620</c:v>
                </c:pt>
                <c:pt idx="26">
                  <c:v>1897394.9</c:v>
                </c:pt>
                <c:pt idx="27">
                  <c:v>1818230</c:v>
                </c:pt>
                <c:pt idx="28">
                  <c:v>1729445.9</c:v>
                </c:pt>
                <c:pt idx="29">
                  <c:v>1561231.7</c:v>
                </c:pt>
                <c:pt idx="30">
                  <c:v>1492941.7</c:v>
                </c:pt>
                <c:pt idx="31">
                  <c:v>1372115</c:v>
                </c:pt>
                <c:pt idx="32">
                  <c:v>1266913.3</c:v>
                </c:pt>
                <c:pt idx="33">
                  <c:v>1110834.6</c:v>
                </c:pt>
                <c:pt idx="34">
                  <c:v>1055302.1</c:v>
                </c:pt>
                <c:pt idx="35">
                  <c:v>943707.7</c:v>
                </c:pt>
                <c:pt idx="36">
                  <c:v>830556.1</c:v>
                </c:pt>
                <c:pt idx="37">
                  <c:v>766048.3</c:v>
                </c:pt>
                <c:pt idx="38">
                  <c:v>708498.3</c:v>
                </c:pt>
                <c:pt idx="39">
                  <c:v>667834.9</c:v>
                </c:pt>
                <c:pt idx="40">
                  <c:v>621207</c:v>
                </c:pt>
                <c:pt idx="41">
                  <c:v>588747.4</c:v>
                </c:pt>
                <c:pt idx="42">
                  <c:v>564737.1</c:v>
                </c:pt>
                <c:pt idx="43">
                  <c:v>552208.4</c:v>
                </c:pt>
                <c:pt idx="44">
                  <c:v>542460.3</c:v>
                </c:pt>
                <c:pt idx="45">
                  <c:v>579334.3</c:v>
                </c:pt>
                <c:pt idx="46">
                  <c:v>594223.6</c:v>
                </c:pt>
                <c:pt idx="47">
                  <c:v>668621.1</c:v>
                </c:pt>
                <c:pt idx="48">
                  <c:v>689478</c:v>
                </c:pt>
                <c:pt idx="49">
                  <c:v>757219.1</c:v>
                </c:pt>
                <c:pt idx="50">
                  <c:v>826572.6</c:v>
                </c:pt>
                <c:pt idx="51">
                  <c:v>929944.7</c:v>
                </c:pt>
                <c:pt idx="52">
                  <c:v>1000641.6</c:v>
                </c:pt>
                <c:pt idx="53">
                  <c:v>1099921.3</c:v>
                </c:pt>
                <c:pt idx="54">
                  <c:v>1223043.1</c:v>
                </c:pt>
                <c:pt idx="55">
                  <c:v>1363047.9</c:v>
                </c:pt>
                <c:pt idx="56">
                  <c:v>1463906.9</c:v>
                </c:pt>
                <c:pt idx="57">
                  <c:v>1542009.4</c:v>
                </c:pt>
                <c:pt idx="58">
                  <c:v>1671440.7</c:v>
                </c:pt>
                <c:pt idx="59">
                  <c:v>1676757.3</c:v>
                </c:pt>
                <c:pt idx="60">
                  <c:v>1829110.1</c:v>
                </c:pt>
                <c:pt idx="61">
                  <c:v>1968409</c:v>
                </c:pt>
                <c:pt idx="62">
                  <c:v>2040638.7</c:v>
                </c:pt>
                <c:pt idx="63">
                  <c:v>2189055</c:v>
                </c:pt>
                <c:pt idx="64">
                  <c:v>2144189.1</c:v>
                </c:pt>
                <c:pt idx="65">
                  <c:v>2342142.9</c:v>
                </c:pt>
                <c:pt idx="66">
                  <c:v>2279885.4</c:v>
                </c:pt>
                <c:pt idx="67">
                  <c:v>2439174</c:v>
                </c:pt>
                <c:pt idx="68">
                  <c:v>2359511.7</c:v>
                </c:pt>
                <c:pt idx="69">
                  <c:v>2445524.6</c:v>
                </c:pt>
                <c:pt idx="70">
                  <c:v>2392373.1</c:v>
                </c:pt>
                <c:pt idx="71">
                  <c:v>2444874.1</c:v>
                </c:pt>
                <c:pt idx="72">
                  <c:v>2362560</c:v>
                </c:pt>
                <c:pt idx="73">
                  <c:v>2377290.1</c:v>
                </c:pt>
                <c:pt idx="74">
                  <c:v>2299905.7</c:v>
                </c:pt>
                <c:pt idx="75">
                  <c:v>2273529.1</c:v>
                </c:pt>
                <c:pt idx="76">
                  <c:v>2285482.3</c:v>
                </c:pt>
                <c:pt idx="77">
                  <c:v>2246259.3</c:v>
                </c:pt>
                <c:pt idx="78">
                  <c:v>2070971.6</c:v>
                </c:pt>
                <c:pt idx="79">
                  <c:v>1899355.1</c:v>
                </c:pt>
                <c:pt idx="80">
                  <c:v>1922554.6</c:v>
                </c:pt>
                <c:pt idx="81">
                  <c:v>1771523.3</c:v>
                </c:pt>
                <c:pt idx="82">
                  <c:v>1664940.7</c:v>
                </c:pt>
                <c:pt idx="83">
                  <c:v>1580867</c:v>
                </c:pt>
                <c:pt idx="84">
                  <c:v>1459916.4</c:v>
                </c:pt>
                <c:pt idx="85">
                  <c:v>1331173.3</c:v>
                </c:pt>
                <c:pt idx="86">
                  <c:v>1224257.7</c:v>
                </c:pt>
                <c:pt idx="87">
                  <c:v>1180585.6</c:v>
                </c:pt>
                <c:pt idx="88">
                  <c:v>1004915.4</c:v>
                </c:pt>
                <c:pt idx="89">
                  <c:v>953017.6</c:v>
                </c:pt>
                <c:pt idx="90">
                  <c:v>846540.3</c:v>
                </c:pt>
                <c:pt idx="91">
                  <c:v>771766.6</c:v>
                </c:pt>
                <c:pt idx="92">
                  <c:v>712962.4</c:v>
                </c:pt>
                <c:pt idx="93">
                  <c:v>644580.4</c:v>
                </c:pt>
                <c:pt idx="94">
                  <c:v>622661.4</c:v>
                </c:pt>
                <c:pt idx="95">
                  <c:v>571966.9</c:v>
                </c:pt>
                <c:pt idx="96">
                  <c:v>547681</c:v>
                </c:pt>
                <c:pt idx="97">
                  <c:v>553965.3</c:v>
                </c:pt>
                <c:pt idx="98">
                  <c:v>536247.1</c:v>
                </c:pt>
                <c:pt idx="99">
                  <c:v>606809.1</c:v>
                </c:pt>
                <c:pt idx="100">
                  <c:v>593418.4</c:v>
                </c:pt>
                <c:pt idx="101">
                  <c:v>686308.6</c:v>
                </c:pt>
                <c:pt idx="102">
                  <c:v>706451.4</c:v>
                </c:pt>
                <c:pt idx="103">
                  <c:v>769075.6</c:v>
                </c:pt>
                <c:pt idx="104">
                  <c:v>837447.7</c:v>
                </c:pt>
                <c:pt idx="105">
                  <c:v>938926.4</c:v>
                </c:pt>
                <c:pt idx="106">
                  <c:v>1034504.6</c:v>
                </c:pt>
                <c:pt idx="107">
                  <c:v>1121548.7</c:v>
                </c:pt>
                <c:pt idx="108">
                  <c:v>1211959</c:v>
                </c:pt>
                <c:pt idx="109">
                  <c:v>1319676.3</c:v>
                </c:pt>
                <c:pt idx="110">
                  <c:v>1484567.6</c:v>
                </c:pt>
                <c:pt idx="111">
                  <c:v>1561965</c:v>
                </c:pt>
                <c:pt idx="112">
                  <c:v>1668209.3</c:v>
                </c:pt>
                <c:pt idx="113">
                  <c:v>1725529.3</c:v>
                </c:pt>
                <c:pt idx="114">
                  <c:v>1809608</c:v>
                </c:pt>
                <c:pt idx="115">
                  <c:v>2032017.7</c:v>
                </c:pt>
                <c:pt idx="116">
                  <c:v>2091561.6</c:v>
                </c:pt>
                <c:pt idx="117">
                  <c:v>2199606.7</c:v>
                </c:pt>
                <c:pt idx="118">
                  <c:v>2213870.1</c:v>
                </c:pt>
                <c:pt idx="119">
                  <c:v>2323908.9</c:v>
                </c:pt>
                <c:pt idx="120">
                  <c:v>2307755</c:v>
                </c:pt>
                <c:pt idx="121">
                  <c:v>2404526.6</c:v>
                </c:pt>
                <c:pt idx="122">
                  <c:v>2359805.6</c:v>
                </c:pt>
                <c:pt idx="123">
                  <c:v>2393910.6</c:v>
                </c:pt>
                <c:pt idx="124">
                  <c:v>2347784.7</c:v>
                </c:pt>
                <c:pt idx="125">
                  <c:v>2466130.1</c:v>
                </c:pt>
                <c:pt idx="126">
                  <c:v>2422673</c:v>
                </c:pt>
                <c:pt idx="127">
                  <c:v>2428828.3</c:v>
                </c:pt>
                <c:pt idx="128">
                  <c:v>2351022.7</c:v>
                </c:pt>
                <c:pt idx="129">
                  <c:v>2231521.1</c:v>
                </c:pt>
                <c:pt idx="130">
                  <c:v>2208327</c:v>
                </c:pt>
                <c:pt idx="131">
                  <c:v>2186186.7</c:v>
                </c:pt>
                <c:pt idx="132">
                  <c:v>1989114.4</c:v>
                </c:pt>
                <c:pt idx="133">
                  <c:v>1909366.1</c:v>
                </c:pt>
                <c:pt idx="134">
                  <c:v>1831939.7</c:v>
                </c:pt>
                <c:pt idx="135">
                  <c:v>1771601</c:v>
                </c:pt>
                <c:pt idx="136">
                  <c:v>1673750.3</c:v>
                </c:pt>
                <c:pt idx="137">
                  <c:v>1570603.3</c:v>
                </c:pt>
                <c:pt idx="138">
                  <c:v>1490546</c:v>
                </c:pt>
                <c:pt idx="139">
                  <c:v>1332809.9</c:v>
                </c:pt>
                <c:pt idx="140">
                  <c:v>1246751.1</c:v>
                </c:pt>
                <c:pt idx="141">
                  <c:v>1122168.3</c:v>
                </c:pt>
                <c:pt idx="142">
                  <c:v>997341.4</c:v>
                </c:pt>
                <c:pt idx="143">
                  <c:v>917990.4</c:v>
                </c:pt>
                <c:pt idx="144">
                  <c:v>824229.4</c:v>
                </c:pt>
                <c:pt idx="145">
                  <c:v>775463.4</c:v>
                </c:pt>
                <c:pt idx="146">
                  <c:v>702397.6</c:v>
                </c:pt>
                <c:pt idx="147">
                  <c:v>634480</c:v>
                </c:pt>
                <c:pt idx="148">
                  <c:v>603080.4</c:v>
                </c:pt>
                <c:pt idx="149">
                  <c:v>588590.9</c:v>
                </c:pt>
                <c:pt idx="150">
                  <c:v>551402.3</c:v>
                </c:pt>
                <c:pt idx="151">
                  <c:v>560025.4</c:v>
                </c:pt>
                <c:pt idx="152">
                  <c:v>559120.7</c:v>
                </c:pt>
                <c:pt idx="153">
                  <c:v>562154.7</c:v>
                </c:pt>
                <c:pt idx="154">
                  <c:v>626742.1</c:v>
                </c:pt>
                <c:pt idx="155">
                  <c:v>656718.9</c:v>
                </c:pt>
                <c:pt idx="156">
                  <c:v>748588.6</c:v>
                </c:pt>
                <c:pt idx="157">
                  <c:v>749353.9</c:v>
                </c:pt>
                <c:pt idx="158">
                  <c:v>850508.9</c:v>
                </c:pt>
                <c:pt idx="159">
                  <c:v>975436.9</c:v>
                </c:pt>
                <c:pt idx="160">
                  <c:v>1074803.4</c:v>
                </c:pt>
                <c:pt idx="161">
                  <c:v>1105937.9</c:v>
                </c:pt>
                <c:pt idx="162">
                  <c:v>1236256</c:v>
                </c:pt>
                <c:pt idx="163">
                  <c:v>1375126.6</c:v>
                </c:pt>
                <c:pt idx="164">
                  <c:v>1431839.9</c:v>
                </c:pt>
                <c:pt idx="165">
                  <c:v>1587752.9</c:v>
                </c:pt>
                <c:pt idx="166">
                  <c:v>1749109.7</c:v>
                </c:pt>
                <c:pt idx="167">
                  <c:v>1762950.4</c:v>
                </c:pt>
                <c:pt idx="168">
                  <c:v>1819682.4</c:v>
                </c:pt>
                <c:pt idx="169">
                  <c:v>1959078.9</c:v>
                </c:pt>
                <c:pt idx="170">
                  <c:v>2081411.1</c:v>
                </c:pt>
                <c:pt idx="171">
                  <c:v>2151410</c:v>
                </c:pt>
                <c:pt idx="172">
                  <c:v>2239716.1</c:v>
                </c:pt>
                <c:pt idx="173">
                  <c:v>2323205.6</c:v>
                </c:pt>
                <c:pt idx="174">
                  <c:v>2359941.6</c:v>
                </c:pt>
                <c:pt idx="175">
                  <c:v>2265162.4</c:v>
                </c:pt>
                <c:pt idx="176">
                  <c:v>2358540.1</c:v>
                </c:pt>
                <c:pt idx="177">
                  <c:v>2451547.4</c:v>
                </c:pt>
                <c:pt idx="178">
                  <c:v>2479569</c:v>
                </c:pt>
                <c:pt idx="179">
                  <c:v>2447961.1</c:v>
                </c:pt>
                <c:pt idx="180">
                  <c:v>2450734.3</c:v>
                </c:pt>
                <c:pt idx="181">
                  <c:v>2384373.4</c:v>
                </c:pt>
                <c:pt idx="182">
                  <c:v>2374030.4</c:v>
                </c:pt>
                <c:pt idx="183">
                  <c:v>2249653.7</c:v>
                </c:pt>
                <c:pt idx="184">
                  <c:v>2250179.9</c:v>
                </c:pt>
                <c:pt idx="185">
                  <c:v>2158632</c:v>
                </c:pt>
                <c:pt idx="186">
                  <c:v>2067869</c:v>
                </c:pt>
                <c:pt idx="187">
                  <c:v>1952002.4</c:v>
                </c:pt>
                <c:pt idx="188">
                  <c:v>1872628</c:v>
                </c:pt>
                <c:pt idx="189">
                  <c:v>1768658.1</c:v>
                </c:pt>
                <c:pt idx="190">
                  <c:v>1644170.9</c:v>
                </c:pt>
                <c:pt idx="191">
                  <c:v>1547310.3</c:v>
                </c:pt>
                <c:pt idx="192">
                  <c:v>1379433.6</c:v>
                </c:pt>
                <c:pt idx="193">
                  <c:v>1316697.3</c:v>
                </c:pt>
                <c:pt idx="194">
                  <c:v>1185364</c:v>
                </c:pt>
                <c:pt idx="195">
                  <c:v>1097426.6</c:v>
                </c:pt>
                <c:pt idx="196">
                  <c:v>1043915.7</c:v>
                </c:pt>
                <c:pt idx="197">
                  <c:v>927449.3</c:v>
                </c:pt>
                <c:pt idx="198">
                  <c:v>838158.1</c:v>
                </c:pt>
                <c:pt idx="199">
                  <c:v>738511.7</c:v>
                </c:pt>
                <c:pt idx="200">
                  <c:v>697783.9</c:v>
                </c:pt>
                <c:pt idx="201">
                  <c:v>634426.1</c:v>
                </c:pt>
                <c:pt idx="202">
                  <c:v>609528.7</c:v>
                </c:pt>
                <c:pt idx="203">
                  <c:v>548204.7</c:v>
                </c:pt>
                <c:pt idx="204">
                  <c:v>555120.9</c:v>
                </c:pt>
                <c:pt idx="205">
                  <c:v>576677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533"/>
                </a:solidFill>
                <a:latin typeface="+mn-lt"/>
              </a:rPr>
              <a:t>Top 10 countries by total cases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cases</c:v>
                </c:pt>
              </c:strCache>
            </c:strRef>
          </c:tx>
          <c:spPr>
            <a:solidFill>
              <a:srgbClr val="2F6DB5"/>
            </a:solidFill>
            <a:effectLst/>
          </c:spPr>
          <c:invertIfNegative val="0"/>
          <c:dLbls>
            <c:numFmt formatCode="#,##0.0,,&quot;M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68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IND</c:v>
                  </c:pt>
                  <c:pt idx="1">
                    <c:v>BRA</c:v>
                  </c:pt>
                  <c:pt idx="2">
                    <c:v>PAK</c:v>
                  </c:pt>
                  <c:pt idx="3">
                    <c:v>NGA</c:v>
                  </c:pt>
                  <c:pt idx="4">
                    <c:v>JPN</c:v>
                  </c:pt>
                  <c:pt idx="5">
                    <c:v>IDN</c:v>
                  </c:pt>
                  <c:pt idx="6">
                    <c:v>RUS</c:v>
                  </c:pt>
                  <c:pt idx="7">
                    <c:v>IRN</c:v>
                  </c:pt>
                  <c:pt idx="8">
                    <c:v>USA</c:v>
                  </c:pt>
                  <c:pt idx="9">
                    <c:v>FRA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509003126</c:v>
                </c:pt>
                <c:pt idx="1">
                  <c:v>213586379</c:v>
                </c:pt>
                <c:pt idx="2">
                  <c:v>208262146</c:v>
                </c:pt>
                <c:pt idx="3">
                  <c:v>197088368</c:v>
                </c:pt>
                <c:pt idx="4">
                  <c:v>121863756</c:v>
                </c:pt>
                <c:pt idx="5">
                  <c:v>110853095</c:v>
                </c:pt>
                <c:pt idx="6">
                  <c:v>92542890</c:v>
                </c:pt>
                <c:pt idx="7">
                  <c:v>86638142</c:v>
                </c:pt>
                <c:pt idx="8">
                  <c:v>80725739</c:v>
                </c:pt>
                <c:pt idx="9">
                  <c:v>68366497</c:v>
                </c:pt>
              </c:numCache>
            </c:numRef>
          </c:val>
        </c:ser>
        <c:dLbls>
          <c:numFmt formatCode="#,##0.0,,&quot;M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6B768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533"/>
                </a:solidFill>
                <a:latin typeface="+mn-lt"/>
              </a:rPr>
              <a:t>Share of cases by continent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6DB5"/>
              </a:solidFill>
              <a:effectLst/>
            </c:spPr>
          </c:dPt>
          <c:dPt>
            <c:idx val="1"/>
            <c:bubble3D val="0"/>
            <c:spPr>
              <a:solidFill>
                <a:srgbClr val="1B998B"/>
              </a:solidFill>
              <a:effectLst/>
            </c:spPr>
          </c:dPt>
          <c:dPt>
            <c:idx val="2"/>
            <c:bubble3D val="0"/>
            <c:spPr>
              <a:solidFill>
                <a:srgbClr val="E09F3E"/>
              </a:solidFill>
              <a:effectLst/>
            </c:spPr>
          </c:dPt>
          <c:dPt>
            <c:idx val="3"/>
            <c:bubble3D val="0"/>
            <c:spPr>
              <a:solidFill>
                <a:srgbClr val="D1495B"/>
              </a:solidFill>
              <a:effectLst/>
            </c:spPr>
          </c:dPt>
          <c:dPt>
            <c:idx val="4"/>
            <c:bubble3D val="0"/>
            <c:spPr>
              <a:solidFill>
                <a:srgbClr val="7A5EA8"/>
              </a:solidFill>
              <a:effectLst/>
            </c:spPr>
          </c:dPt>
          <c:dPt>
            <c:idx val="5"/>
            <c:bubble3D val="0"/>
            <c:spPr>
              <a:solidFill>
                <a:srgbClr val="5B8C3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Asia</c:v>
                </c:pt>
                <c:pt idx="1">
                  <c:v>South America</c:v>
                </c:pt>
                <c:pt idx="2">
                  <c:v>Europe</c:v>
                </c:pt>
                <c:pt idx="3">
                  <c:v>Africa</c:v>
                </c:pt>
                <c:pt idx="4">
                  <c:v>North America</c:v>
                </c:pt>
                <c:pt idx="5">
                  <c:v>Oceania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1193357764</c:v>
                </c:pt>
                <c:pt idx="1">
                  <c:v>298336427</c:v>
                </c:pt>
                <c:pt idx="2">
                  <c:v>292591666</c:v>
                </c:pt>
                <c:pt idx="3">
                  <c:v>254886060</c:v>
                </c:pt>
                <c:pt idx="4">
                  <c:v>141140880</c:v>
                </c:pt>
                <c:pt idx="5">
                  <c:v>21950886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B25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CoviSpark runs one COVID-19 dataset through a small but complete big-data stack: HDFS for storage, a MapReduce job on YARN, five Spark jobs, and a web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Hadoop has one NameNode, two DataNodes, a ResourceManager and two NodeManagers. Spark has a master and two workers. All ten containers share the hadoop-net bridge network; project folders are bind-mounted so scripts reach the cluster and results come back to the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Mapper output: country, continent, new_cases, new_deaths separated by tabs. Hadoop sorts by country, so the reducer only needs a running sum. The cluster output is identical to the local pipe version: mapper | sort | reducer.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Flask exposes /api/status, /api/summary, /api/countries, /api/top10, /api/continents, /api/wave, /api/cfr and /api/vaccination. The front end is plain HTML, CSS and JavaScript with Chart.js bundled locally, in light and dark themes.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come from the generated dataset, not real statistics. Highest CFR: IRN at 2.475%. Peak of the smoothed global curve: 2023-06-22.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5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2533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6"/>
                </a:solidFill>
              </a:rPr>
              <a:t>CoviSpark · CSBB 422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CoviSpark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</a:rPr>
              <a:t>Distributed COVID-19 data analysis with Hadoop MapReduce, Apache Spark and a web dashboard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</a:rPr>
              <a:t>CSBB 422 · Big Data Analytics · Course project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92640" y="1188720"/>
            <a:ext cx="777240" cy="777240"/>
          </a:xfrm>
          <a:prstGeom prst="ellipse">
            <a:avLst/>
          </a:prstGeom>
          <a:solidFill>
            <a:srgbClr val="1E4673"/>
          </a:solidFill>
          <a:ln w="12700">
            <a:solidFill>
              <a:srgbClr val="2C5A8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6376" y="1362456"/>
            <a:ext cx="429768" cy="4297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509760" y="1993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HDFS + YARN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692640" y="2331720"/>
            <a:ext cx="777240" cy="777240"/>
          </a:xfrm>
          <a:prstGeom prst="ellipse">
            <a:avLst/>
          </a:prstGeom>
          <a:solidFill>
            <a:srgbClr val="1E4673"/>
          </a:solidFill>
          <a:ln w="12700">
            <a:solidFill>
              <a:srgbClr val="2C5A8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6376" y="2505456"/>
            <a:ext cx="429768" cy="4297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509760" y="3136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Apache Spark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692640" y="3474720"/>
            <a:ext cx="777240" cy="777240"/>
          </a:xfrm>
          <a:prstGeom prst="ellipse">
            <a:avLst/>
          </a:prstGeom>
          <a:solidFill>
            <a:srgbClr val="1E4673"/>
          </a:solidFill>
          <a:ln w="12700">
            <a:solidFill>
              <a:srgbClr val="2C5A8C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6376" y="3648456"/>
            <a:ext cx="429768" cy="4297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509760" y="4279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Flask dashboard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The project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36,000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rows in the dataset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364992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64992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25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364992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countries, 2020–2023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81344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81344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10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6181344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Docker containers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997696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97696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1 + 5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MapReduce + Spark jobs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52044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3671316"/>
            <a:ext cx="384048" cy="3840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417320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3"/>
                </a:solidFill>
              </a:rPr>
              <a:t>Store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3950208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The CSV goes into HDFS with a replication factor of 2, split across two DataNodes.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297680" y="352044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3671316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166360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3"/>
                </a:solidFill>
              </a:rPr>
              <a:t>Process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5166360" y="3950208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A Hadoop Streaming job totals each country on YARN; Spark runs five analyses on a two-worker cluster.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8046720" y="352044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3671316"/>
            <a:ext cx="384048" cy="38404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915400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3"/>
                </a:solidFill>
              </a:rPr>
              <a:t>Present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8915400" y="3950208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Flask serves the result files as JSON; a six-view dashboard turns them into charts and tables.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Ten containers, one network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BF1E2"/>
          </a:solidFill>
          <a:ln w="12700">
            <a:solidFill>
              <a:srgbClr val="E09F3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0759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9F3E"/>
                </a:solidFill>
              </a:rPr>
              <a:t>Hadoop: HDFS + YARN</a:t>
            </a:r>
            <a:endParaRPr lang="en-US" sz="1300" dirty="0"/>
          </a:p>
        </p:txBody>
      </p:sp>
      <p:sp>
        <p:nvSpPr>
          <p:cNvPr id="5" name="box0"/>
          <p:cNvSpPr/>
          <p:nvPr/>
        </p:nvSpPr>
        <p:spPr>
          <a:xfrm>
            <a:off x="777240" y="16916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23774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namenode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:9870  :9000</a:t>
            </a:r>
            <a:endParaRPr lang="en-US" sz="1500" dirty="0"/>
          </a:p>
        </p:txBody>
      </p:sp>
      <p:sp>
        <p:nvSpPr>
          <p:cNvPr id="7" name="box1"/>
          <p:cNvSpPr/>
          <p:nvPr/>
        </p:nvSpPr>
        <p:spPr>
          <a:xfrm>
            <a:off x="3337560" y="16916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7560" y="1691640"/>
            <a:ext cx="23774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resourcemanager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:8088</a:t>
            </a:r>
            <a:endParaRPr lang="en-US" sz="1500" dirty="0"/>
          </a:p>
        </p:txBody>
      </p:sp>
      <p:sp>
        <p:nvSpPr>
          <p:cNvPr id="9" name="box2"/>
          <p:cNvSpPr/>
          <p:nvPr/>
        </p:nvSpPr>
        <p:spPr>
          <a:xfrm>
            <a:off x="7772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datanode1</a:t>
            </a:r>
            <a:endParaRPr lang="en-US" sz="1200" dirty="0"/>
          </a:p>
        </p:txBody>
      </p:sp>
      <p:sp>
        <p:nvSpPr>
          <p:cNvPr id="11" name="box3"/>
          <p:cNvSpPr/>
          <p:nvPr/>
        </p:nvSpPr>
        <p:spPr>
          <a:xfrm>
            <a:off x="20345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345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datanode2</a:t>
            </a:r>
            <a:endParaRPr lang="en-US" sz="1200" dirty="0"/>
          </a:p>
        </p:txBody>
      </p:sp>
      <p:sp>
        <p:nvSpPr>
          <p:cNvPr id="13" name="box4"/>
          <p:cNvSpPr/>
          <p:nvPr/>
        </p:nvSpPr>
        <p:spPr>
          <a:xfrm>
            <a:off x="32918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918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nodemanager1</a:t>
            </a:r>
            <a:endParaRPr lang="en-US" sz="1200" dirty="0"/>
          </a:p>
        </p:txBody>
      </p:sp>
      <p:sp>
        <p:nvSpPr>
          <p:cNvPr id="15" name="box5"/>
          <p:cNvSpPr/>
          <p:nvPr/>
        </p:nvSpPr>
        <p:spPr>
          <a:xfrm>
            <a:off x="45491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491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nodemanager2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flipH="1">
            <a:off x="1325880" y="2560320"/>
            <a:ext cx="22860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377440" y="2560320"/>
            <a:ext cx="22860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3840480" y="2560320"/>
            <a:ext cx="27432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37760" y="2560320"/>
            <a:ext cx="18288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217920" y="12344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BE8EA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130759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1495B"/>
                </a:solidFill>
              </a:rPr>
              <a:t>Apache Spark: standalone cluster</a:t>
            </a:r>
            <a:endParaRPr lang="en-US" sz="1300" dirty="0"/>
          </a:p>
        </p:txBody>
      </p:sp>
      <p:sp>
        <p:nvSpPr>
          <p:cNvPr id="23" name="box6"/>
          <p:cNvSpPr/>
          <p:nvPr/>
        </p:nvSpPr>
        <p:spPr>
          <a:xfrm>
            <a:off x="7726680" y="16916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26680" y="1691640"/>
            <a:ext cx="23774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spark-master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:8080  :7077</a:t>
            </a:r>
            <a:endParaRPr lang="en-US" sz="1500" dirty="0"/>
          </a:p>
        </p:txBody>
      </p:sp>
      <p:sp>
        <p:nvSpPr>
          <p:cNvPr id="25" name="box7"/>
          <p:cNvSpPr/>
          <p:nvPr/>
        </p:nvSpPr>
        <p:spPr>
          <a:xfrm>
            <a:off x="6446520" y="2926080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B2533"/>
                </a:solidFill>
              </a:rPr>
              <a:t>spark-worker1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2 cores · 1 GB</a:t>
            </a:r>
            <a:endParaRPr lang="en-US" sz="1300" dirty="0"/>
          </a:p>
        </p:txBody>
      </p:sp>
      <p:sp>
        <p:nvSpPr>
          <p:cNvPr id="27" name="box8"/>
          <p:cNvSpPr/>
          <p:nvPr/>
        </p:nvSpPr>
        <p:spPr>
          <a:xfrm>
            <a:off x="9144000" y="2926080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B2533"/>
                </a:solidFill>
              </a:rPr>
              <a:t>spark-worker2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2 cores · 1 GB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 flipH="1">
            <a:off x="7680960" y="2560320"/>
            <a:ext cx="640080" cy="365760"/>
          </a:xfrm>
          <a:prstGeom prst="line">
            <a:avLst/>
          </a:prstGeom>
          <a:noFill/>
          <a:ln w="19050">
            <a:solidFill>
              <a:srgbClr val="D1495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509760" y="2560320"/>
            <a:ext cx="640080" cy="365760"/>
          </a:xfrm>
          <a:prstGeom prst="line">
            <a:avLst/>
          </a:prstGeom>
          <a:noFill/>
          <a:ln w="19050">
            <a:solidFill>
              <a:srgbClr val="D1495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48640" y="416052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E6ECF3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23367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55B"/>
                </a:solidFill>
              </a:rPr>
              <a:t>Host folders, bind-mounted into the containers</a:t>
            </a:r>
            <a:endParaRPr lang="en-US" sz="1300" dirty="0"/>
          </a:p>
        </p:txBody>
      </p:sp>
      <p:sp>
        <p:nvSpPr>
          <p:cNvPr id="33" name="box9"/>
          <p:cNvSpPr/>
          <p:nvPr/>
        </p:nvSpPr>
        <p:spPr>
          <a:xfrm>
            <a:off x="82296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./data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input CSV</a:t>
            </a:r>
            <a:endParaRPr lang="en-US" sz="1500" dirty="0"/>
          </a:p>
        </p:txBody>
      </p:sp>
      <p:sp>
        <p:nvSpPr>
          <p:cNvPr id="35" name="box10"/>
          <p:cNvSpPr/>
          <p:nvPr/>
        </p:nvSpPr>
        <p:spPr>
          <a:xfrm>
            <a:off x="297180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7180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./mapreduce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mapper, reducer</a:t>
            </a:r>
            <a:endParaRPr lang="en-US" sz="1500" dirty="0"/>
          </a:p>
        </p:txBody>
      </p:sp>
      <p:sp>
        <p:nvSpPr>
          <p:cNvPr id="37" name="box11"/>
          <p:cNvSpPr/>
          <p:nvPr/>
        </p:nvSpPr>
        <p:spPr>
          <a:xfrm>
            <a:off x="512064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./spark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PySpark script</a:t>
            </a:r>
            <a:endParaRPr lang="en-US" sz="1500" dirty="0"/>
          </a:p>
        </p:txBody>
      </p:sp>
      <p:sp>
        <p:nvSpPr>
          <p:cNvPr id="39" name="box12"/>
          <p:cNvSpPr/>
          <p:nvPr/>
        </p:nvSpPr>
        <p:spPr>
          <a:xfrm>
            <a:off x="726948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26948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./results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JSON + CSV</a:t>
            </a:r>
            <a:endParaRPr lang="en-US" sz="1500" dirty="0"/>
          </a:p>
        </p:txBody>
      </p:sp>
      <p:sp>
        <p:nvSpPr>
          <p:cNvPr id="41" name="box13"/>
          <p:cNvSpPr/>
          <p:nvPr/>
        </p:nvSpPr>
        <p:spPr>
          <a:xfrm>
            <a:off x="9601200" y="4572000"/>
            <a:ext cx="1783080" cy="1325880"/>
          </a:xfrm>
          <a:prstGeom prst="roundRect">
            <a:avLst>
              <a:gd name="adj" fmla="val 5517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01200" y="4572000"/>
            <a:ext cx="1783080" cy="1325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dashboard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Flask · :5000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778240" y="5285232"/>
            <a:ext cx="822960" cy="914"/>
          </a:xfrm>
          <a:prstGeom prst="line">
            <a:avLst/>
          </a:prstGeom>
          <a:noFill/>
          <a:ln w="19050">
            <a:solidFill>
              <a:srgbClr val="1B998B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Technology stack, layer by layer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80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Presentation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2801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Flask 3.0 REST API · HTML/CSS/JS · Chart.js 4.4 (bundled)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103120"/>
            <a:ext cx="10844784" cy="685800"/>
          </a:xfrm>
          <a:prstGeom prst="roundRect">
            <a:avLst>
              <a:gd name="adj" fmla="val 10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Analytics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10312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Apache Spark 3.5 · PySpark DataFrames, window functions, cache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68096" y="2926080"/>
            <a:ext cx="10625328" cy="685800"/>
          </a:xfrm>
          <a:prstGeom prst="roundRect">
            <a:avLst>
              <a:gd name="adj" fmla="val 10667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96696" y="29260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Batch processing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9260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Hadoop Streaming 3.2.1 · Python mapper and reducer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77824" y="3749040"/>
            <a:ext cx="10405872" cy="685800"/>
          </a:xfrm>
          <a:prstGeom prst="roundRect">
            <a:avLst>
              <a:gd name="adj" fmla="val 10667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6424" y="3749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Scheduling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749040"/>
            <a:ext cx="7351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YARN · ResourceManager + 2 NodeManagers, 512 MB containers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7552" y="4572000"/>
            <a:ext cx="10186416" cy="685800"/>
          </a:xfrm>
          <a:prstGeom prst="roundRect">
            <a:avLst>
              <a:gd name="adj" fmla="val 10667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16152" y="45720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Storage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4572000"/>
            <a:ext cx="7242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HDFS · NameNode + 2 DataNodes, replication factor 2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97280" y="539496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EEF1F5"/>
          </a:solidFill>
          <a:ln w="15875">
            <a:solidFill>
              <a:srgbClr val="6B76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5394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Infrastructure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539496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Docker Compose · 10 services on one bridge network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How data moves through the system</a:t>
            </a:r>
            <a:endParaRPr lang="en-US" sz="3200" dirty="0"/>
          </a:p>
        </p:txBody>
      </p:sp>
      <p:sp>
        <p:nvSpPr>
          <p:cNvPr id="3" name="box14"/>
          <p:cNvSpPr/>
          <p:nvPr/>
        </p:nvSpPr>
        <p:spPr>
          <a:xfrm>
            <a:off x="548640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Dataset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OWID CSV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36,000 rows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12848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6" name="box15"/>
          <p:cNvSpPr/>
          <p:nvPr/>
        </p:nvSpPr>
        <p:spPr>
          <a:xfrm>
            <a:off x="2441448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41448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HDFS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/covid19/input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replication 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05656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9" name="box16"/>
          <p:cNvSpPr/>
          <p:nvPr/>
        </p:nvSpPr>
        <p:spPr>
          <a:xfrm>
            <a:off x="4334256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4256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MapReduce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country totals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on YARN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98464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12" name="box17"/>
          <p:cNvSpPr/>
          <p:nvPr/>
        </p:nvSpPr>
        <p:spPr>
          <a:xfrm>
            <a:off x="6227064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27064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Spark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5 jobs on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2 workers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891272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15" name="box18"/>
          <p:cNvSpPr/>
          <p:nvPr/>
        </p:nvSpPr>
        <p:spPr>
          <a:xfrm>
            <a:off x="8119872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19872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results/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5 JSON files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+ 1 CSV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784080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18" name="box19"/>
          <p:cNvSpPr/>
          <p:nvPr/>
        </p:nvSpPr>
        <p:spPr>
          <a:xfrm>
            <a:off x="10012680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12680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Dashboard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Flask API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6 views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start cluster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364992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64992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23360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upload to HDFS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81344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81344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39712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run MapReduce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997696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97696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656064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run Spark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run_all.sh</a:t>
            </a:r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 runs the four step scripts in order. Spark reads the CSV from the shared /data folder; MapReduce reads it from HDFS.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The dataset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Eleven OWID columns are used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iso_code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154680" y="1783080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54680" y="178308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5000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54680" y="2350008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54680" y="235000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916936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916936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new_cases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54680" y="2916936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54680" y="2916936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new_deaths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83864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total_cases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154680" y="3483864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54680" y="3483864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total_deaths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050792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05079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people_vaccinated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54680" y="4050792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54680" y="405079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total_vaccinations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6177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2578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Sample generator: fixed seed 42, 60-day sine waves, ±30% daily noise, deaths at 0.5–2.5% of cases, vaccinations from day 300.</a:t>
            </a:r>
            <a:endParaRPr lang="en-US" sz="14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035040" y="1234440"/>
          <a:ext cx="55778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6035040" y="54864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6"/>
                </a:solidFill>
              </a:rPr>
              <a:t>Four waves, one per year: the shape the analysis should recover.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MapReduce: totals per country</a:t>
            </a:r>
            <a:endParaRPr lang="en-US" sz="3200" dirty="0"/>
          </a:p>
        </p:txBody>
      </p:sp>
      <p:sp>
        <p:nvSpPr>
          <p:cNvPr id="3" name="box20"/>
          <p:cNvSpPr/>
          <p:nvPr/>
        </p:nvSpPr>
        <p:spPr>
          <a:xfrm>
            <a:off x="548640" y="23774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377440"/>
            <a:ext cx="173736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HDFS input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owid-covid-data.csv</a:t>
            </a:r>
            <a:endParaRPr lang="en-US" sz="1500" dirty="0"/>
          </a:p>
        </p:txBody>
      </p:sp>
      <p:sp>
        <p:nvSpPr>
          <p:cNvPr id="5" name="box21"/>
          <p:cNvSpPr/>
          <p:nvPr/>
        </p:nvSpPr>
        <p:spPr>
          <a:xfrm>
            <a:off x="2743200" y="14173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43200" y="141732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split 0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has the header</a:t>
            </a:r>
            <a:endParaRPr lang="en-US" sz="1500" dirty="0"/>
          </a:p>
        </p:txBody>
      </p:sp>
      <p:sp>
        <p:nvSpPr>
          <p:cNvPr id="7" name="box22"/>
          <p:cNvSpPr/>
          <p:nvPr/>
        </p:nvSpPr>
        <p:spPr>
          <a:xfrm>
            <a:off x="2743200" y="356616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356616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split 1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no header</a:t>
            </a:r>
            <a:endParaRPr lang="en-US" sz="1500" dirty="0"/>
          </a:p>
        </p:txBody>
      </p:sp>
      <p:sp>
        <p:nvSpPr>
          <p:cNvPr id="9" name="box23"/>
          <p:cNvSpPr/>
          <p:nvPr/>
        </p:nvSpPr>
        <p:spPr>
          <a:xfrm>
            <a:off x="5029200" y="14173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0" y="141732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mapper.py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emits key + values</a:t>
            </a:r>
            <a:endParaRPr lang="en-US" sz="1500" dirty="0"/>
          </a:p>
        </p:txBody>
      </p:sp>
      <p:sp>
        <p:nvSpPr>
          <p:cNvPr id="11" name="box24"/>
          <p:cNvSpPr/>
          <p:nvPr/>
        </p:nvSpPr>
        <p:spPr>
          <a:xfrm>
            <a:off x="5029200" y="356616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356616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mapper.py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emits key + values</a:t>
            </a:r>
            <a:endParaRPr lang="en-US" sz="1500" dirty="0"/>
          </a:p>
        </p:txBody>
      </p:sp>
      <p:sp>
        <p:nvSpPr>
          <p:cNvPr id="13" name="box25"/>
          <p:cNvSpPr/>
          <p:nvPr/>
        </p:nvSpPr>
        <p:spPr>
          <a:xfrm>
            <a:off x="7315200" y="237744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1F5"/>
          </a:solidFill>
          <a:ln w="15875">
            <a:solidFill>
              <a:srgbClr val="6B76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0" y="2377440"/>
            <a:ext cx="182880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shuffle + sort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grouped by country</a:t>
            </a:r>
            <a:endParaRPr lang="en-US" sz="1500" dirty="0"/>
          </a:p>
        </p:txBody>
      </p:sp>
      <p:sp>
        <p:nvSpPr>
          <p:cNvPr id="15" name="box26"/>
          <p:cNvSpPr/>
          <p:nvPr/>
        </p:nvSpPr>
        <p:spPr>
          <a:xfrm>
            <a:off x="9601200" y="237744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0" y="2377440"/>
            <a:ext cx="201168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reducer.py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sums cases, deaths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 flipV="1">
            <a:off x="2286000" y="1920240"/>
            <a:ext cx="457200" cy="77724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0" y="3246120"/>
            <a:ext cx="457200" cy="77724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0" y="1892808"/>
            <a:ext cx="45720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72000" y="4041648"/>
            <a:ext cx="45720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858000" y="2011680"/>
            <a:ext cx="457200" cy="68580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6858000" y="3246120"/>
            <a:ext cx="457200" cy="68580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44000" y="2971800"/>
            <a:ext cx="45720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8640" y="49834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55B"/>
                </a:solidFill>
              </a:rPr>
              <a:t>Header fix  </a:t>
            </a:r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Only the first split starts with the CSV header. The run script reads it once and passes it to every mapper with </a:t>
            </a:r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-cmdenv COVID_HEADER</a:t>
            </a:r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, so all splits parse the same columns.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Spark: one cached DataFrame, five jobs</a:t>
            </a:r>
            <a:endParaRPr lang="en-US" sz="3200" dirty="0"/>
          </a:p>
        </p:txBody>
      </p:sp>
      <p:sp>
        <p:nvSpPr>
          <p:cNvPr id="3" name="box27"/>
          <p:cNvSpPr/>
          <p:nvPr/>
        </p:nvSpPr>
        <p:spPr>
          <a:xfrm>
            <a:off x="548640" y="2788920"/>
            <a:ext cx="1737360" cy="1097280"/>
          </a:xfrm>
          <a:prstGeom prst="roundRect">
            <a:avLst>
              <a:gd name="adj" fmla="val 6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88920"/>
            <a:ext cx="173736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Read CSV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header, inferSchema</a:t>
            </a:r>
            <a:endParaRPr lang="en-US" sz="1500" dirty="0"/>
          </a:p>
        </p:txBody>
      </p:sp>
      <p:sp>
        <p:nvSpPr>
          <p:cNvPr id="5" name="box28"/>
          <p:cNvSpPr/>
          <p:nvPr/>
        </p:nvSpPr>
        <p:spPr>
          <a:xfrm>
            <a:off x="2606040" y="278892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06040" y="2788920"/>
            <a:ext cx="192024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Clean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cast · fill 0 · drop OWID_</a:t>
            </a:r>
            <a:endParaRPr lang="en-US" sz="1500" dirty="0"/>
          </a:p>
        </p:txBody>
      </p:sp>
      <p:sp>
        <p:nvSpPr>
          <p:cNvPr id="7" name="box29"/>
          <p:cNvSpPr/>
          <p:nvPr/>
        </p:nvSpPr>
        <p:spPr>
          <a:xfrm>
            <a:off x="4846320" y="2788920"/>
            <a:ext cx="1463040" cy="1097280"/>
          </a:xfrm>
          <a:prstGeom prst="roundRect">
            <a:avLst>
              <a:gd name="adj" fmla="val 6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2788920"/>
            <a:ext cx="146304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cache()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reused 5×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286000" y="3337560"/>
            <a:ext cx="32004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26280" y="3337560"/>
            <a:ext cx="32004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949440" y="1234440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86600" y="1389888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138988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1234440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Top 10 countries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max(total_cases)  →  top10_countries.json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 flipV="1">
            <a:off x="6309360" y="1636776"/>
            <a:ext cx="640080" cy="1700784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949440" y="2212848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2368296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23682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Continent totals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sum(new_cases)  →  continent_totals.json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 flipV="1">
            <a:off x="6309360" y="2615184"/>
            <a:ext cx="640080" cy="722376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949440" y="3191256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6600" y="3346704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86600" y="33467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3191256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Global wave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Window rowsBetween(-3, 3)  →  global_wave.json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309360" y="3337560"/>
            <a:ext cx="640080" cy="256032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949440" y="4169664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86600" y="4325112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86600" y="43251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4169664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Case-fatality rate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deaths ÷ cases × 100  →  cfr_by_country.json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309360" y="3337560"/>
            <a:ext cx="640080" cy="1234440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949440" y="5148072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86600" y="5303520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86600" y="5303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5148072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Vaccination share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vaccinated ÷ population  →  vaccination_progress.json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309360" y="3337560"/>
            <a:ext cx="640080" cy="2212848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The dashboard</a:t>
            </a:r>
            <a:endParaRPr lang="en-US" sz="3200" dirty="0"/>
          </a:p>
        </p:txBody>
      </p:sp>
      <p:pic>
        <p:nvPicPr>
          <p:cNvPr id="3" name="Image 0" descr="Overview view of the CoviSpark dashboard">    </p:cNvPr>
          <p:cNvPicPr>
            <a:picLocks noChangeAspect="1"/>
          </p:cNvPicPr>
          <p:nvPr/>
        </p:nvPicPr>
        <p:blipFill>
          <a:blip r:embed="rId1"/>
          <a:srcRect l="0" r="0" t="0" b="4472"/>
          <a:stretch/>
        </p:blipFill>
        <p:spPr>
          <a:xfrm>
            <a:off x="548640" y="1188720"/>
            <a:ext cx="67665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6766560" cy="4937760"/>
          </a:xfrm>
          <a:prstGeom prst="rect">
            <a:avLst/>
          </a:prstGeom>
          <a:ln w="12700">
            <a:solidFill>
              <a:srgbClr val="D5DCE5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0" y="118872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E6ECF3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188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Overview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KPIs, wave, top 10, continents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680960" y="201168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2011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Countries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search, filter, sort all 25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680960" y="283464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0" y="28346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Infection wave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daily series, year filters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680960" y="365760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3657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Case fatality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top 15 vs global rate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448056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4480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Vaccination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top 15 shares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680960" y="530352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63840" y="53035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Pipeline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output status, cluster UIs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Running it end to end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1600200"/>
            <a:ext cx="0" cy="3383280"/>
          </a:xfrm>
          <a:prstGeom prst="line">
            <a:avLst/>
          </a:prstGeom>
          <a:noFill/>
          <a:ln w="25400">
            <a:solidFill>
              <a:srgbClr val="C9D1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32588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2344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01_start_cluster.sh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docker-compose up -d · wait for HDFS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42316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331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02_upload_data.sh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generate CSV if missing · hdfs dfs -put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290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03_run_mapreduce.sh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streaming job on YARN · export CSV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4360" y="461772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5262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04_run_spark.sh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spark-submit to spark-master:7077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0" y="1325880"/>
            <a:ext cx="4754880" cy="1691640"/>
          </a:xfrm>
          <a:prstGeom prst="roundRect">
            <a:avLst>
              <a:gd name="adj" fmla="val 5405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14630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Cluster mode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1920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5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run_all.sh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3317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HDFS, YARN and Spark in 10 containers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0" y="3291840"/>
            <a:ext cx="4754880" cy="1691640"/>
          </a:xfrm>
          <a:prstGeom prst="roundRect">
            <a:avLst>
              <a:gd name="adj" fmla="val 5405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3429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Local mode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86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99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scripts/05_run_local.sh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4297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Same jobs on the host; MapReduce as mapper | sort | reducer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669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Then open http://localhost:5000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What the pipeline found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55B"/>
                </a:solidFill>
              </a:rPr>
              <a:t>2.20B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cases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1495B"/>
                </a:solidFill>
              </a:rPr>
              <a:t>34.1M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deaths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55B"/>
                </a:solidFill>
              </a:rPr>
              <a:t>1.55%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global CFR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55B"/>
                </a:solidFill>
              </a:rPr>
              <a:t>2.5M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peak 7-day avg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48640" y="2331720"/>
          <a:ext cx="60350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6858000" y="2331720"/>
          <a:ext cx="4754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How we know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544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2801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Spark jobs 1–5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match an independent pandas recomputation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172200" y="12801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55448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95160" y="12801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MapReduce on YARN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identical to the local pipe output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4688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74320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24688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Split handling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two halves of the file give the same totals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172200" y="24688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743200"/>
            <a:ext cx="457200" cy="457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95160" y="24688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MapReduce vs Spark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sum of new cases = max of total cases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6576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3931920"/>
            <a:ext cx="457200" cy="4572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71600" y="36576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HDFS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2 live DataNodes, replication 2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6172200" y="36576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3931920"/>
            <a:ext cx="457200" cy="4572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995160" y="36576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YARN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2 NodeManagers, 2 maps + 1 reduce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548640" y="48463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120640"/>
            <a:ext cx="457200" cy="4572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371600" y="48463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Spark cluster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2 workers alive, app finished on 4 cores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6172200" y="48463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3368" y="5120640"/>
            <a:ext cx="457200" cy="4572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6995160" y="48463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Dashboard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all routes 200, all views render, no JS errors</a:t>
            </a:r>
            <a:endParaRPr lang="en-US" sz="1600" dirty="0"/>
          </a:p>
        </p:txBody>
      </p:sp>
      <p:sp>
        <p:nvSpPr>
          <p:cNvPr id="27" name="Text 17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6"/>
                </a:solidFill>
              </a:rPr>
              <a:t>Final check: cluster torn down with its volumes and rebuilt from scratch with run_all.sh.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Limits and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47675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Synthetic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7860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Swap in the real OWID file; the code needs no change.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97680" y="132588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147675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9768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Spark reads a shared folder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257860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Point COVID_DATA at hdfs:// to use HDFS for Spark too.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46720" y="132588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147675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Single-partition window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046720" y="257860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Fine for 1,440 days; partition it for larger date ranges.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70332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385419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Old base images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495604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Hadoop images date from 2019; Spark comes from Bitnami's legacy archive.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297680" y="370332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3854196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One machine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4297680" y="495604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Run the same images on several hosts or Kubernetes for real scaling.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8046720" y="370332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596" y="3854196"/>
            <a:ext cx="384048" cy="38404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Read-only dashboard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8046720" y="495604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A button that submits the pipeline would make it a control panel.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</a:rPr>
              <a:t>Dashboard  localhost:5000   ·   HDFS  :9870   ·   YARN  :8088   ·   Spark  :8080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iSpark">
  <a:themeElements>
    <a:clrScheme name="CoviSpark">
      <a:dk1>
        <a:srgbClr val="1B2533"/>
      </a:dk1>
      <a:lt1>
        <a:srgbClr val="FFFFFF"/>
      </a:lt1>
      <a:dk2>
        <a:srgbClr val="12355B"/>
      </a:dk2>
      <a:lt2>
        <a:srgbClr val="F4F6F9"/>
      </a:lt2>
      <a:accent1>
        <a:srgbClr val="12355B"/>
      </a:accent1>
      <a:accent2>
        <a:srgbClr val="E09F3E"/>
      </a:accent2>
      <a:accent3>
        <a:srgbClr val="D1495B"/>
      </a:accent3>
      <a:accent4>
        <a:srgbClr val="1B998B"/>
      </a:accent4>
      <a:accent5>
        <a:srgbClr val="2F6DB5"/>
      </a:accent5>
      <a:accent6>
        <a:srgbClr val="6B7686"/>
      </a:accent6>
      <a:hlink>
        <a:srgbClr val="2F6DB5"/>
      </a:hlink>
      <a:folHlink>
        <a:srgbClr val="7A5EA8"/>
      </a:folHlink>
    </a:clrScheme>
    <a:fontScheme name="CoviSp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CSBB 422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CoviSpark — Distributed COVID-19 Analysis</dc:title>
  <dc:subject>CSBB 422 Big Data Analytics</dc:subject>
  <dc:creator>CoviSpark project team</dc:creator>
  <cp:lastModifiedBy>CoviSpark project team</cp:lastModifiedBy>
  <cp:revision>1</cp:revision>
  <dcterms:created xsi:type="dcterms:W3CDTF">2026-10-31T08:31:42Z</dcterms:created>
  <dcterms:modified xsi:type="dcterms:W3CDTF">2026-10-31T08:31:42Z</dcterms:modified>
</cp:coreProperties>
</file>